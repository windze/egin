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3d414e802c441a" /><Relationship Type="http://schemas.openxmlformats.org/officeDocument/2006/relationships/extended-properties" Target="/docProps/app.xml" Id="R40913e4d79d34560" /><Relationship Type="http://schemas.openxmlformats.org/officeDocument/2006/relationships/officeDocument" Target="/ppt/presentation.xml" Id="R20a1a5f733fb4b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915ab20ae245cb"/>
  </p:sldMasterIdLst>
  <p:notesMasterIdLst>
    <p:notesMasterId xmlns:r="http://schemas.openxmlformats.org/officeDocument/2006/relationships" r:id="R19f6cc4e5f874d87"/>
  </p:notesMasterIdLst>
  <p:sldIdLst>
    <p:sldId xmlns:r="http://schemas.openxmlformats.org/officeDocument/2006/relationships" id="256" r:id="R37eab05d44b047fd"/>
    <p:sldId xmlns:r="http://schemas.openxmlformats.org/officeDocument/2006/relationships" id="257" r:id="Rf8e67bccbde3421c"/>
    <p:sldId xmlns:r="http://schemas.openxmlformats.org/officeDocument/2006/relationships" id="258" r:id="Rae088c6b59e24427"/>
    <p:sldId xmlns:r="http://schemas.openxmlformats.org/officeDocument/2006/relationships" id="259" r:id="Rbde09b0239e54c6f"/>
    <p:sldId xmlns:r="http://schemas.openxmlformats.org/officeDocument/2006/relationships" id="260" r:id="R6820687a86444f99"/>
    <p:sldId xmlns:r="http://schemas.openxmlformats.org/officeDocument/2006/relationships" id="261" r:id="Rbab673e57d554a6e"/>
    <p:sldId xmlns:r="http://schemas.openxmlformats.org/officeDocument/2006/relationships" id="262" r:id="R688b0dceb15f4088"/>
    <p:sldId xmlns:r="http://schemas.openxmlformats.org/officeDocument/2006/relationships" id="263" r:id="R04306147361f4db3"/>
    <p:sldId xmlns:r="http://schemas.openxmlformats.org/officeDocument/2006/relationships" id="264" r:id="R7dd0ee77a748461b"/>
    <p:sldId xmlns:r="http://schemas.openxmlformats.org/officeDocument/2006/relationships" id="265" r:id="R821d04149e774d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3ebb63ae0643fe" /><Relationship Type="http://schemas.openxmlformats.org/officeDocument/2006/relationships/slideMaster" Target="/ppt/slideMasters/slideMaster1.xml" Id="R30915ab20ae245cb" /><Relationship Type="http://schemas.openxmlformats.org/officeDocument/2006/relationships/notesMaster" Target="/ppt/notesMasters/notesMaster1.xml" Id="R19f6cc4e5f874d87" /><Relationship Type="http://schemas.openxmlformats.org/officeDocument/2006/relationships/presProps" Target="/ppt/presProps.xml" Id="R0e5428f2621f43e0" /><Relationship Type="http://schemas.openxmlformats.org/officeDocument/2006/relationships/tableStyles" Target="/ppt/tableStyles.xml" Id="R30be2628f3344702" /><Relationship Type="http://schemas.openxmlformats.org/officeDocument/2006/relationships/slide" Target="/ppt/slides/slide1.xml" Id="R37eab05d44b047fd" /><Relationship Type="http://schemas.openxmlformats.org/officeDocument/2006/relationships/slide" Target="/ppt/slides/slide2.xml" Id="Rf8e67bccbde3421c" /><Relationship Type="http://schemas.openxmlformats.org/officeDocument/2006/relationships/slide" Target="/ppt/slides/slide3.xml" Id="Rae088c6b59e24427" /><Relationship Type="http://schemas.openxmlformats.org/officeDocument/2006/relationships/slide" Target="/ppt/slides/slide4.xml" Id="Rbde09b0239e54c6f" /><Relationship Type="http://schemas.openxmlformats.org/officeDocument/2006/relationships/slide" Target="/ppt/slides/slide5.xml" Id="R6820687a86444f99" /><Relationship Type="http://schemas.openxmlformats.org/officeDocument/2006/relationships/slide" Target="/ppt/slides/slide6.xml" Id="Rbab673e57d554a6e" /><Relationship Type="http://schemas.openxmlformats.org/officeDocument/2006/relationships/slide" Target="/ppt/slides/slide7.xml" Id="R688b0dceb15f4088" /><Relationship Type="http://schemas.openxmlformats.org/officeDocument/2006/relationships/slide" Target="/ppt/slides/slide8.xml" Id="R04306147361f4db3" /><Relationship Type="http://schemas.openxmlformats.org/officeDocument/2006/relationships/slide" Target="/ppt/slides/slide9.xml" Id="R7dd0ee77a748461b" /><Relationship Type="http://schemas.openxmlformats.org/officeDocument/2006/relationships/slide" Target="/ppt/slides/slide10.xml" Id="R821d04149e774d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e6d96073014d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7915b378de4ea4" /><Relationship Type="http://schemas.openxmlformats.org/officeDocument/2006/relationships/notesMaster" Target="/ppt/notesMasters/notesMaster1.xml" Id="Rb96db1e5cfe445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d5bfe0728b4526" /><Relationship Type="http://schemas.openxmlformats.org/officeDocument/2006/relationships/notesMaster" Target="/ppt/notesMasters/notesMaster1.xml" Id="Rbbc5143f775842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bf8ea50f1247c5" /><Relationship Type="http://schemas.openxmlformats.org/officeDocument/2006/relationships/notesMaster" Target="/ppt/notesMasters/notesMaster1.xml" Id="Re9a19b8f9d264f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02fb3462074931" /><Relationship Type="http://schemas.openxmlformats.org/officeDocument/2006/relationships/notesMaster" Target="/ppt/notesMasters/notesMaster1.xml" Id="Rbedbe793dd1c45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8946393bfa46a3" /><Relationship Type="http://schemas.openxmlformats.org/officeDocument/2006/relationships/notesMaster" Target="/ppt/notesMasters/notesMaster1.xml" Id="R7fa0a73f30e047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10358baaed4aa9" /><Relationship Type="http://schemas.openxmlformats.org/officeDocument/2006/relationships/notesMaster" Target="/ppt/notesMasters/notesMaster1.xml" Id="Rf5c3bb0f5c754b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d2bd7b8c99483a" /><Relationship Type="http://schemas.openxmlformats.org/officeDocument/2006/relationships/notesMaster" Target="/ppt/notesMasters/notesMaster1.xml" Id="Rdc92d482b3b348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1133635c1a4615" /><Relationship Type="http://schemas.openxmlformats.org/officeDocument/2006/relationships/notesMaster" Target="/ppt/notesMasters/notesMaster1.xml" Id="R294ada94917d41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e60fcf002e4f7e" /><Relationship Type="http://schemas.openxmlformats.org/officeDocument/2006/relationships/notesMaster" Target="/ppt/notesMasters/notesMaster1.xml" Id="R4c36875d83f34b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775a46cfb94eb1" /><Relationship Type="http://schemas.openxmlformats.org/officeDocument/2006/relationships/notesMaster" Target="/ppt/notesMasters/notesMaster1.xml" Id="R0de33a50c50a49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Egin.docx, титульный раздел и рис. 2. Изображение робота — концепт-визуализация, не фотография испытаний.</a:t>
            </a:r>
          </a:p>
          <a:p xmlns:a="http://schemas.openxmlformats.org/drawingml/2006/main">
            <a:r>
              <a:t>Источник: Egin.docx, таблица паспортизации проекта. Контактные данные в слайд не включены.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Egin.docx, таблица паспортизации проекта. Контактные данные в слайд не включены.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Egin.docx, раздел 2. Оценка 15–25 ч/нед взята из проектного документа и не проверена независимым замером; на слайде обозначена как оценка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Egin.docx, разделы 1, 5–7. Функции описывают проектную концепцию и требуют подтверждения испытаниями.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Egin.docx, разделы 5–7 и рис. 1. 22 степени свободы и подача жидкостей — спецификация проекта, не результат независимых испытаний.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Egin.docx, разделы 3, 6. Точность диагностики и автоматическое выполнение рекомендаций не заявляются как подтвержденные показатели.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Egin.docx, раздел 8 и рис. 6. Интерфейс сайта является демонстрацией; статусы роботов симулируются.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цен: src/components/OrderModal.tsx. Базовая цена 2 800 000 ₸; корзина 450 000 ₸; датчики 180 000 ₸; обучение 120 000 ₸. Комплект с корзиной и датчиками: 3 430 000 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Покупатель: расчет использует целевой показатель 20 ч/нед из Egin.docx и среднемесячную зарплату 365 262 ₸ в сельском хозяйстве, лесном и рыбном хозяйстве во II квартале 2026 года (Бюро национальной статистики РК: https://stat.gov.kz/en/industries/labor-and-venue/stat-wags/publications/514654/). 20 ч/нед приняты за половину стандартной 40-часовой недели. Простая окупаемость базовой цены 2,8 млн ₸: около 1,28 года при круглогодичном использовании или 2,56 года при шестимесячном сезоне. До обслуживания, электроэнергии, ремонтов, простоев и контроля человеком. Продавец: 30% валовой маржи от 2,8 млн ₸ требует себестоимости не выше 1,96 млн ₸; фактическая себестоимость неизвестна. Все оценки — сценарные, не гарантии.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Пятилетний срок — расчетное допущение для предварительной модели, не подтвержденный ресурс и не гарантийный срок. Следующий этап — пилот с измерением времени задач, расхода воды, надежности, циклов аккумулятора, обслуживания и простоев.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7cfd0ad6f5403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4a6fb767b945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88669342da4a5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e95d4dee6d4dd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65b2cf859743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7301aea07b48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06DA4E-AC7A-47CB-AAC6-5BC2F935C6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48DE7A9-66BF-4A87-B847-E18CD7D9D50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4C882A3-B1C1-4290-9B3B-49EB348552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8B94E1-36AC-4C48-B65D-D697050449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1A374DC-0273-42BB-A64D-9D15969F49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3858DEF-29A0-4CD2-8411-610FDE814B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A25B83-8573-442B-AF78-0B4482895B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D725E31-AE7B-4ED4-A149-D0C7E627AB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75931A-E9CE-4C95-AEA7-77BA695D71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943968-378C-4108-8B94-82A9817B61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38d864b13c40f1" /><Relationship Type="http://schemas.openxmlformats.org/officeDocument/2006/relationships/slideLayout" Target="/ppt/slideLayouts/slideLayout1.xml" Id="R102bb01b1f38407c" /><Relationship Type="http://schemas.openxmlformats.org/officeDocument/2006/relationships/slideLayout" Target="/ppt/slideLayouts/slideLayout2.xml" Id="R7ffe670006a54b02" /><Relationship Type="http://schemas.openxmlformats.org/officeDocument/2006/relationships/slideLayout" Target="/ppt/slideLayouts/slideLayout3.xml" Id="Raa7c8436e4174a4c" /><Relationship Type="http://schemas.openxmlformats.org/officeDocument/2006/relationships/slideLayout" Target="/ppt/slideLayouts/slideLayout4.xml" Id="Rc7b0384ebb6c4f17" /><Relationship Type="http://schemas.openxmlformats.org/officeDocument/2006/relationships/slideLayout" Target="/ppt/slideLayouts/slideLayout5.xml" Id="R0cb6c390be4745a8" /><Relationship Type="http://schemas.openxmlformats.org/officeDocument/2006/relationships/slideLayout" Target="/ppt/slideLayouts/slideLayout6.xml" Id="Rbc758215849c4d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2bb01b1f38407c"/>
    <p:sldLayoutId xmlns:r="http://schemas.openxmlformats.org/officeDocument/2006/relationships" id="2147483650" r:id="R7ffe670006a54b02"/>
    <p:sldLayoutId xmlns:r="http://schemas.openxmlformats.org/officeDocument/2006/relationships" id="2147483651" r:id="Raa7c8436e4174a4c"/>
    <p:sldLayoutId xmlns:r="http://schemas.openxmlformats.org/officeDocument/2006/relationships" id="2147483652" r:id="Rc7b0384ebb6c4f17"/>
    <p:sldLayoutId xmlns:r="http://schemas.openxmlformats.org/officeDocument/2006/relationships" id="2147483653" r:id="R0cb6c390be4745a8"/>
    <p:sldLayoutId xmlns:r="http://schemas.openxmlformats.org/officeDocument/2006/relationships" id="2147483654" r:id="Rbc758215849c4d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9065ff573840ef" /><Relationship Type="http://schemas.openxmlformats.org/officeDocument/2006/relationships/image" Target="/ppt/media/image.jpeg" Id="Rd5a5adbda8424957" /><Relationship Type="http://schemas.openxmlformats.org/officeDocument/2006/relationships/notesSlide" Target="/ppt/notesSlides/notesSlide1.xml" Id="R2a5272726a7649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cb27ebba1d440a" /><Relationship Type="http://schemas.openxmlformats.org/officeDocument/2006/relationships/notesSlide" Target="/ppt/notesSlides/notesSlide2.xml" Id="R4bf0e38387e741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13561f444843c5" /><Relationship Type="http://schemas.openxmlformats.org/officeDocument/2006/relationships/image" Target="/ppt/media/image2.jpeg" Id="R3c78dc481c174dd9" /><Relationship Type="http://schemas.openxmlformats.org/officeDocument/2006/relationships/notesSlide" Target="/ppt/notesSlides/notesSlide3.xml" Id="Rbc938338a2c044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123208157e430a" /><Relationship Type="http://schemas.openxmlformats.org/officeDocument/2006/relationships/image" Target="/ppt/media/image3.jpeg" Id="R5f99a8e6242644fe" /><Relationship Type="http://schemas.openxmlformats.org/officeDocument/2006/relationships/notesSlide" Target="/ppt/notesSlides/notesSlide4.xml" Id="R942c1b36c5f64e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54f7bb603e4e4f" /><Relationship Type="http://schemas.openxmlformats.org/officeDocument/2006/relationships/image" Target="/ppt/media/image4.jpeg" Id="R8829693027694c3d" /><Relationship Type="http://schemas.openxmlformats.org/officeDocument/2006/relationships/notesSlide" Target="/ppt/notesSlides/notesSlide5.xml" Id="Rb3574052530247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a75cd9e6c94a80" /><Relationship Type="http://schemas.openxmlformats.org/officeDocument/2006/relationships/image" Target="/ppt/media/image5.jpeg" Id="R2487276e93804764" /><Relationship Type="http://schemas.openxmlformats.org/officeDocument/2006/relationships/notesSlide" Target="/ppt/notesSlides/notesSlide6.xml" Id="R40f3426408d84f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c1457f34354f0a" /><Relationship Type="http://schemas.openxmlformats.org/officeDocument/2006/relationships/image" Target="/ppt/media/image6.jpeg" Id="Rfebd34bc274f44ab" /><Relationship Type="http://schemas.openxmlformats.org/officeDocument/2006/relationships/notesSlide" Target="/ppt/notesSlides/notesSlide7.xml" Id="Rddb146ffc7b140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459e3489db4c7a" /><Relationship Type="http://schemas.openxmlformats.org/officeDocument/2006/relationships/image" Target="/ppt/media/image7.jpeg" Id="R57aa88a2c7e14e09" /><Relationship Type="http://schemas.openxmlformats.org/officeDocument/2006/relationships/notesSlide" Target="/ppt/notesSlides/notesSlide8.xml" Id="R36d7bcdc848b4e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a10df72aad49ef" /><Relationship Type="http://schemas.openxmlformats.org/officeDocument/2006/relationships/notesSlide" Target="/ppt/notesSlides/notesSlide9.xml" Id="R5a735e16af4e42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52bb20e6634e22" /><Relationship Type="http://schemas.openxmlformats.org/officeDocument/2006/relationships/notesSlide" Target="/ppt/notesSlides/notesSlide10.xml" Id="R5562a91a9cea4c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7665D-6D75-4099-BC25-62370BFE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AQMOLA POWER  • 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EBDBD-0BFD-46E4-B018-FBCDB326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899"/>
          </a:bodyPr>
          <a:lstStyle xmlns:a="http://schemas.openxmlformats.org/drawingml/2006/main">
            <a:def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EGIN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69B2B-B30C-42A8-AB1B-6A33802C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4857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АГРО-РОБОТ</a:t>
            </a:r>
          </a:p>
          <a:p xmlns:a="http://schemas.openxmlformats.org/drawingml/2006/main">
            <a: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ДЛЯ ТЕПЛИЦЫ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4EFDA-BBF6-4D92-AB52-5D8645E1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433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Робототехника  ×  ИИ  ×  агротехнологии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03AE8-6F69-4AA9-912C-5D334656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0065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Абай Тлеугалиев  •  Astana IT University / JanaBales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3830E-A9F2-43B3-8FB3-FA4F26F341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5adbda8424957"/>
          <a:stretch xmlns:a="http://schemas.openxmlformats.org/drawingml/2006/main"/>
        </p:blipFill>
        <p:spPr>
          <a:xfrm xmlns:a="http://schemas.openxmlformats.org/drawingml/2006/main">
            <a:off x="5810250" y="742950"/>
            <a:ext cx="5715000" cy="5334000"/>
          </a:xfrm>
          <a:prstGeom xmlns:a="http://schemas.openxmlformats.org/drawingml/2006/main" prst="roundRect">
            <a:avLst>
              <a:gd name="adj" fmla="val 214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1C7AB-A9BD-4ECD-AD32-51D749B7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579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08078"/>
                </a:solidFill>
                <a:latin typeface="Arial"/>
                <a:ea typeface="Arial"/>
                <a:cs typeface="Arial"/>
              </a:rPr>
              <a:t>КОНЦЕПТ ПРОЕКТА  •  КОСШЫ, АКМОЛИНСКАЯ ОБЛАСТЬ</a:t>
            </a:r>
          </a:p>
        </p:txBody>
      </p:sp>
    </p:spTree>
    <p:extLst>
      <p:ext uri="{BB962C8B-B14F-4D97-AF65-F5344CB8AC3E}">
        <p14:creationId xmlns:p14="http://schemas.microsoft.com/office/powerpoint/2010/main" val="944064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5C183-3B1B-442D-8332-7D761C86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Автор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65886-9309-4596-8148-ED44FB4E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742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D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626FB-E0E6-4CA1-A059-662BBECF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8078"/>
                </a:solidFill>
                <a:latin typeface="Arial"/>
                <a:ea typeface="Arial"/>
                <a:cs typeface="Arial"/>
              </a:rPr>
              <a:t>EGIN  •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E7C9E-8377-428E-B9BB-C0E38EBA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621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Абай Тлеугалиев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C2F93-1BB7-400C-A360-D2AE095B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1D59D"/>
                </a:solidFill>
                <a:latin typeface="Arial"/>
                <a:ea typeface="Arial"/>
                <a:cs typeface="Arial"/>
              </a:rPr>
              <a:t>Astana IT University  /  JanaBales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84CAB-3BED-485F-824B-BEFF5A74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9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FE354-A1BB-4104-8554-02B50420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РОБОТОТЕХНИКА     ×     ИСКУССТВЕННЫЙ ИНТЕЛЛЕКТ     ×     АГРОТЕХНОЛОГИИ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BE8F8-31A6-4A75-9FFC-E0BBBF8A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000625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EGIN — проект для теплиц и небольших хозяйств Акмолинской области</a:t>
            </a:r>
          </a:p>
        </p:txBody>
      </p:sp>
    </p:spTree>
    <p:extLst>
      <p:ext uri="{BB962C8B-B14F-4D97-AF65-F5344CB8AC3E}">
        <p14:creationId xmlns:p14="http://schemas.microsoft.com/office/powerpoint/2010/main" val="11469063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6F64C1-CC55-40E3-A380-411D13F6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Рутинный уход отнимает время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8F73C-9244-4E32-A912-759B80D7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742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D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9EB79-4653-435C-B18B-57A1616D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8078"/>
                </a:solidFill>
                <a:latin typeface="Arial"/>
                <a:ea typeface="Arial"/>
                <a:cs typeface="Arial"/>
              </a:rPr>
              <a:t>EGIN  •  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2B40A-612A-4BE8-B96D-99DD367CF2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8dc481c174dd9"/>
          <a:stretch xmlns:a="http://schemas.openxmlformats.org/drawingml/2006/main"/>
        </p:blipFill>
        <p:spPr>
          <a:xfrm xmlns:a="http://schemas.openxmlformats.org/drawingml/2006/main">
            <a:off x="685800" y="1504950"/>
            <a:ext cx="53340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7A5FD-39CF-466D-B636-7D03BB4B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ОЦЕНКА ПРОЕКТА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52BE7-40E6-4968-8BBC-66E16A3E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28825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15–25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3841E-131B-41A9-AD1B-CFE8F04B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670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часов ручной работы в неделю*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79B9B-8098-4B79-BC74-974A3C15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57625"/>
            <a:ext cx="4095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Полив  •  прополка  •  осмотр растений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7FBC15-9D24-4F95-A57E-E66DE72A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078"/>
                </a:solidFill>
                <a:latin typeface="Arial"/>
                <a:ea typeface="Arial"/>
                <a:cs typeface="Arial"/>
              </a:rPr>
              <a:t>* Оценка из проектного документа; проверяется замерами в пилоте.</a:t>
            </a:r>
          </a:p>
        </p:txBody>
      </p:sp>
    </p:spTree>
    <p:extLst>
      <p:ext uri="{BB962C8B-B14F-4D97-AF65-F5344CB8AC3E}">
        <p14:creationId xmlns:p14="http://schemas.microsoft.com/office/powerpoint/2010/main" val="4754608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D207D-E797-40D2-82EE-1F565DA2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EGIN — помощник для теплицы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A2F9A-CBDD-4C42-AD7F-7CAB2BD5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742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D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A3BD4-B337-480A-8D24-C3A6BF91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8078"/>
                </a:solidFill>
                <a:latin typeface="Arial"/>
                <a:ea typeface="Arial"/>
                <a:cs typeface="Arial"/>
              </a:rPr>
              <a:t>EGIN  •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A19C7-3877-42DE-A828-172EC54C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ПРОЕКТНАЯ КОНЦЕПЦИЯ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14183-5C08-4DC5-9A6C-060EAB5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Рутина —</a:t>
            </a:r>
          </a:p>
          <a:p xmlns:a="http://schemas.openxmlformats.org/drawingml/2006/main">
            <a: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под контроль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1D2A5-4F49-4A4A-BC35-48C89544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4572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Точечный полив</a:t>
            </a:r>
          </a:p>
          <a:p xmlns:a="http://schemas.openxmlformats.org/drawingml/2006/main">
            <a: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Мониторинг растений</a:t>
            </a:r>
          </a:p>
          <a:p xmlns:a="http://schemas.openxmlformats.org/drawingml/2006/main">
            <a: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Перенос урожая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50F28-B275-4387-9607-D69765F8DD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99a8e6242644fe"/>
          <a:stretch xmlns:a="http://schemas.openxmlformats.org/drawingml/2006/main"/>
        </p:blipFill>
        <p:spPr>
          <a:xfrm xmlns:a="http://schemas.openxmlformats.org/drawingml/2006/main">
            <a:off x="5905500" y="1428750"/>
            <a:ext cx="5572125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1BFFC-EACE-4E4E-A6C3-2C800724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1D59D"/>
                </a:solidFill>
                <a:latin typeface="Arial"/>
                <a:ea typeface="Arial"/>
                <a:cs typeface="Arial"/>
              </a:rPr>
              <a:t>Задача робота — помогать человеку, а не заменять агронома.</a:t>
            </a:r>
          </a:p>
        </p:txBody>
      </p:sp>
    </p:spTree>
    <p:extLst>
      <p:ext uri="{BB962C8B-B14F-4D97-AF65-F5344CB8AC3E}">
        <p14:creationId xmlns:p14="http://schemas.microsoft.com/office/powerpoint/2010/main" val="426610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B3F331-3B6F-4999-9B20-E16276D3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Конструкция для работы у грядок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B01F4-EFA3-4638-BF32-0E5B4DB2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742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D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4C44A-F13C-44DD-AA7E-339A2E21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8078"/>
                </a:solidFill>
                <a:latin typeface="Arial"/>
                <a:ea typeface="Arial"/>
                <a:cs typeface="Arial"/>
              </a:rPr>
              <a:t>EGIN  •  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C3230-3F54-4277-9E0D-B8F1A64D4F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29693027694c3d"/>
          <a:stretch xmlns:a="http://schemas.openxmlformats.org/drawingml/2006/main"/>
        </p:blipFill>
        <p:spPr>
          <a:xfrm xmlns:a="http://schemas.openxmlformats.org/drawingml/2006/main">
            <a:off x="685800" y="1428750"/>
            <a:ext cx="5619750" cy="42862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0022C-C8C9-438E-AC69-85EEE9CB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19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ИНЖЕНЕРНАЯ КОНЦЕПЦИЯ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96706-FF80-4FFA-9002-1A047FFA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400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51897-6DE5-4FEB-BA0E-96284871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337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степени свободы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4D366-2396-40C2-9066-0D6D21BF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004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9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4885C4-206E-4412-B820-F3CD4543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89572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Ладонный полив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F5539-6DA1-46A3-8163-42543E8C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вода  +  жидкая подкормка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41BEF-A962-4B04-AB5E-8B95CBA1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07682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Модульная корзина Follow-Me</a:t>
            </a:r>
          </a:p>
        </p:txBody>
      </p:sp>
    </p:spTree>
    <p:extLst>
      <p:ext uri="{BB962C8B-B14F-4D97-AF65-F5344CB8AC3E}">
        <p14:creationId xmlns:p14="http://schemas.microsoft.com/office/powerpoint/2010/main" val="20063994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B45E3-61BE-4EE1-A1D0-4AA1D792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Зрение, AR и ИИ-агроном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ED72C-8DDD-4D26-8886-032621AE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742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D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D132E-341B-4503-B52F-715349A4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8078"/>
                </a:solidFill>
                <a:latin typeface="Arial"/>
                <a:ea typeface="Arial"/>
                <a:cs typeface="Arial"/>
              </a:rPr>
              <a:t>EGIN  •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591B7-3F45-4A5B-861A-42C8E4CB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ЗАЛОЖЕННЫЕ ФУНКЦИИ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C66A3-DEE9-4D96-B750-E39872ED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ИИ-зрение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78B04-FCF4-4239-AFB0-26958EDB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наблюдение за культурами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05593-4203-45B3-B8D5-4E856C6B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AR-разметка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6B9AC-265B-4D25-8DB1-2B49D986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границы и карта грядок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F4ABC-C257-488A-8A65-AB1830D1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ИИ-агроном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7BD62-CFAD-46A4-8C2F-031380AA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вопросы по уходу за растениями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B9582-BA0F-4BDD-B0D4-49DEC8220C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7276e93804764"/>
          <a:stretch xmlns:a="http://schemas.openxmlformats.org/drawingml/2006/main"/>
        </p:blipFill>
        <p:spPr>
          <a:xfrm xmlns:a="http://schemas.openxmlformats.org/drawingml/2006/main">
            <a:off x="6000750" y="1524000"/>
            <a:ext cx="552450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AB442-2763-4081-A300-8A4D5020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078"/>
                </a:solidFill>
                <a:latin typeface="Arial"/>
                <a:ea typeface="Arial"/>
                <a:cs typeface="Arial"/>
              </a:rPr>
              <a:t>Точность распознавания и рекомендации должны быть подтверждены испытаниями.</a:t>
            </a:r>
          </a:p>
        </p:txBody>
      </p:sp>
    </p:spTree>
    <p:extLst>
      <p:ext uri="{BB962C8B-B14F-4D97-AF65-F5344CB8AC3E}">
        <p14:creationId xmlns:p14="http://schemas.microsoft.com/office/powerpoint/2010/main" val="564228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8C28E-8FB4-4D88-A56E-A03E48D9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Цифровая часть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6468A-F8AA-4B98-A553-F6754A3B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742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D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21989-F905-4C87-93F7-8D04312B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8078"/>
                </a:solidFill>
                <a:latin typeface="Arial"/>
                <a:ea typeface="Arial"/>
                <a:cs typeface="Arial"/>
              </a:rPr>
              <a:t>EGIN  •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BFF0D-49B3-45FF-BF7A-3F361E89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САЙТ И EGIN 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C34F5-0D8D-4023-B234-89D72A75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Симуляция</a:t>
            </a:r>
          </a:p>
          <a:p xmlns:a="http://schemas.openxmlformats.org/drawingml/2006/main">
            <a: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Панель управления</a:t>
            </a:r>
          </a:p>
          <a:p xmlns:a="http://schemas.openxmlformats.org/drawingml/2006/main">
            <a: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Мобильный интерфейс</a:t>
            </a:r>
          </a:p>
          <a:p xmlns:a="http://schemas.openxmlformats.org/drawingml/2006/main">
            <a: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ИИ-чат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78755-7636-4CE6-8E12-2BEF694F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Форма заявки —</a:t>
            </a:r>
          </a:p>
          <a:p xmlns:a="http://schemas.openxmlformats.org/drawingml/2006/main">
            <a: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демонстрационная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5D0A9-C574-4944-85F8-3A7D0AAE20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d34bc274f44ab"/>
          <a:stretch xmlns:a="http://schemas.openxmlformats.org/drawingml/2006/main"/>
        </p:blipFill>
        <p:spPr>
          <a:xfrm xmlns:a="http://schemas.openxmlformats.org/drawingml/2006/main">
            <a:off x="5953125" y="1371600"/>
            <a:ext cx="5572125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66F91-D6C5-4954-AC4A-E06F4917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078"/>
                </a:solidFill>
                <a:latin typeface="Arial"/>
                <a:ea typeface="Arial"/>
                <a:cs typeface="Arial"/>
              </a:rPr>
              <a:t>Сайт показывает цифровой прототип; телеметрия роботов в симуляции демонстрационная.</a:t>
            </a:r>
          </a:p>
        </p:txBody>
      </p:sp>
    </p:spTree>
    <p:extLst>
      <p:ext uri="{BB962C8B-B14F-4D97-AF65-F5344CB8AC3E}">
        <p14:creationId xmlns:p14="http://schemas.microsoft.com/office/powerpoint/2010/main" val="12081916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020ACA-3EB4-45B9-9844-585FE502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Цена и комплектация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3DA20-A414-47DF-A450-13DBDA07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742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D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C8864-D1CF-48F9-95D1-BCC9EE23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8078"/>
                </a:solidFill>
                <a:latin typeface="Arial"/>
                <a:ea typeface="Arial"/>
                <a:cs typeface="Arial"/>
              </a:rPr>
              <a:t>EGIN  •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C717D-FA91-445A-8476-66864757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БАЗОВАЯ ЦЕНА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0062D-AC1A-480E-9C75-BFD35357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485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2,8 млн 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A7C67-C48D-466E-B5B2-847ADFCB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Робот EGIN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BA07A-B63B-45FD-982D-BC68F75B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9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D58B5-5E67-4DE2-A7DD-F4771B2D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+ 450 тыс. ₸   корзина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47882-66F7-44F6-A457-609947A1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+ 180 тыс. ₸   датчики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6E226C-15FF-4D38-85F4-6D16C526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+ 120 тыс. ₸   обучение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CF471-C7FE-49C2-9365-558B52E9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3,43 млн ₸  с корзиной и датчиками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9D5D09-2DB3-44DA-8DB8-36D77FA80C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a88a2c7e14e09"/>
          <a:stretch xmlns:a="http://schemas.openxmlformats.org/drawingml/2006/main"/>
        </p:blipFill>
        <p:spPr>
          <a:xfrm xmlns:a="http://schemas.openxmlformats.org/drawingml/2006/main">
            <a:off x="6096000" y="1504950"/>
            <a:ext cx="5381625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195318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69E5D1-2E60-468D-9433-EBBE2FF0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Экономика: сценарий, не гарантия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26F00-CACC-490B-A6CD-2F945A38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742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D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4437E-7A05-44D7-88E8-D7C43E13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8078"/>
                </a:solidFill>
                <a:latin typeface="Arial"/>
                <a:ea typeface="Arial"/>
                <a:cs typeface="Arial"/>
              </a:rPr>
              <a:t>EGIN  •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9C2DF-B627-4AE5-AE82-38D2534E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387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11C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73513-F0B8-493E-AB07-AA019CEA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2197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11C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666A5-408B-4016-A7DD-BBD63DBF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19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ПОКУПАТЕЛЬ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3C84B-EFA6-47ED-8C96-81C45BD6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28850"/>
            <a:ext cx="4524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1,3–2,6 года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E58C0-6270-4CB9-89BA-759A8694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52775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простая окупаемость</a:t>
            </a:r>
          </a:p>
          <a:p xmlns:a="http://schemas.openxmlformats.org/drawingml/2006/main">
            <a: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при экономии 20 ч/нед*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0CA94-27EE-41E5-8076-1A8102DD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38625"/>
            <a:ext cx="442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Круглогодично: ~1,3 года</a:t>
            </a:r>
          </a:p>
          <a:p xmlns:a="http://schemas.openxmlformats.org/drawingml/2006/main">
            <a: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Сезон 6 месяцев: ~2,6 года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A0614-215D-4F12-B7C5-A1931545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19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ПРОДАВЕЦ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598E08-42C6-4384-AD18-2BF913C3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28850"/>
            <a:ext cx="447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≤ 1,96 млн 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276EA8-3016-4544-8FA6-6D0EBADA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33725"/>
            <a:ext cx="438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предельная себестоимость</a:t>
            </a:r>
          </a:p>
          <a:p xmlns:a="http://schemas.openxmlformats.org/drawingml/2006/main">
            <a: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для 30% валовой маржи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EBE6D-1B4E-4018-96CB-AF2B11BC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29100"/>
            <a:ext cx="438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От базовой цены 2,8 млн ₸;</a:t>
            </a:r>
          </a:p>
          <a:p xmlns:a="http://schemas.openxmlformats.org/drawingml/2006/main">
            <a: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до сервиса и гарантий.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E319D-7BDC-4754-A975-D3241242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721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08078"/>
                </a:solidFill>
                <a:latin typeface="Arial"/>
                <a:ea typeface="Arial"/>
                <a:cs typeface="Arial"/>
              </a:rPr>
              <a:t>* По отраслевой средней зарплате 365 262 ₸/мес, II кв. 2026; до расходов на обслуживание.</a:t>
            </a:r>
          </a:p>
        </p:txBody>
      </p:sp>
    </p:spTree>
    <p:extLst>
      <p:ext uri="{BB962C8B-B14F-4D97-AF65-F5344CB8AC3E}">
        <p14:creationId xmlns:p14="http://schemas.microsoft.com/office/powerpoint/2010/main" val="18519036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1058B-13D6-47B0-8123-45ACCB22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Срок службы проверим пилотом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14D8C-5C1C-46C8-A5CD-E4F67378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742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D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0EAFD-7CEC-4A9C-864D-55241966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8078"/>
                </a:solidFill>
                <a:latin typeface="Arial"/>
                <a:ea typeface="Arial"/>
                <a:cs typeface="Arial"/>
              </a:rPr>
              <a:t>EGIN  •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16BB8-C4A6-437C-80F7-3A8A470D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5 лет*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FA6E9-6BFC-4F2E-8C35-7FE3051A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сценарий для расчёта,</a:t>
            </a:r>
          </a:p>
          <a:p xmlns:a="http://schemas.openxmlformats.org/drawingml/2006/main">
            <a: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не подтверждённый ресурс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5A535-10C9-4315-A522-F63191B0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9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00A71-2176-4738-97B6-4590ACFF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ЧТО ИЗМЕРИМ В ПИЛОТЕ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E9C5F-ED6F-4EC8-9E99-854036BA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431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Наработка и простои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1917C-33C1-4455-9F7C-ECBB8642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99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Аккумулятор и ремонт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5D571-ED2D-4FEA-9B46-3DF7544F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7667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Время, вода, качество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10B53-0CDD-4FAB-8F2D-942DBF09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D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3DCB7-E930-48AB-A307-33460161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23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Следующий шаг —</a:t>
            </a:r>
          </a:p>
          <a:p xmlns:a="http://schemas.openxmlformats.org/drawingml/2006/main">
            <a: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пилотная теплица в Акмолинской области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330A3A-42D0-4665-A3C1-DCC782E3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08078"/>
                </a:solidFill>
                <a:latin typeface="Arial"/>
                <a:ea typeface="Arial"/>
                <a:cs typeface="Arial"/>
              </a:rPr>
              <a:t>* Расчётное допущение, не срок гарантии.</a:t>
            </a:r>
          </a:p>
        </p:txBody>
      </p:sp>
    </p:spTree>
    <p:extLst>
      <p:ext uri="{BB962C8B-B14F-4D97-AF65-F5344CB8AC3E}">
        <p14:creationId xmlns:p14="http://schemas.microsoft.com/office/powerpoint/2010/main" val="12046962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2026-10-27T03:09:16.1730000Z</dcterms:created>
  <dcterms:modified xsi:type="dcterms:W3CDTF">2026-10-27T03:09:16.1730000Z</dcterms:modified>
</coreProperties>
</file>