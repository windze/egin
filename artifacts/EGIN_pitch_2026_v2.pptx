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00ff7edb4a4afe" /><Relationship Type="http://schemas.openxmlformats.org/officeDocument/2006/relationships/extended-properties" Target="/docProps/app.xml" Id="R30b3236ddcf14c02" /><Relationship Type="http://schemas.openxmlformats.org/officeDocument/2006/relationships/officeDocument" Target="/ppt/presentation.xml" Id="R4f70bf7f75af4c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b7b362610f467b"/>
  </p:sldMasterIdLst>
  <p:notesMasterIdLst>
    <p:notesMasterId xmlns:r="http://schemas.openxmlformats.org/officeDocument/2006/relationships" r:id="R212ba8145e834caa"/>
  </p:notesMasterIdLst>
  <p:sldIdLst>
    <p:sldId xmlns:r="http://schemas.openxmlformats.org/officeDocument/2006/relationships" id="256" r:id="Rb76d8abaaefb4c01"/>
    <p:sldId xmlns:r="http://schemas.openxmlformats.org/officeDocument/2006/relationships" id="257" r:id="R5c0c9360a5cc4323"/>
    <p:sldId xmlns:r="http://schemas.openxmlformats.org/officeDocument/2006/relationships" id="258" r:id="Ra3971d6dab374ba9"/>
    <p:sldId xmlns:r="http://schemas.openxmlformats.org/officeDocument/2006/relationships" id="259" r:id="Rc8574115584c434d"/>
    <p:sldId xmlns:r="http://schemas.openxmlformats.org/officeDocument/2006/relationships" id="260" r:id="R05abfd2695584bd3"/>
    <p:sldId xmlns:r="http://schemas.openxmlformats.org/officeDocument/2006/relationships" id="261" r:id="R4ebbc91a682741c6"/>
    <p:sldId xmlns:r="http://schemas.openxmlformats.org/officeDocument/2006/relationships" id="262" r:id="Rcd0810be53ea4287"/>
    <p:sldId xmlns:r="http://schemas.openxmlformats.org/officeDocument/2006/relationships" id="263" r:id="R1f8c40e883be4f9d"/>
    <p:sldId xmlns:r="http://schemas.openxmlformats.org/officeDocument/2006/relationships" id="264" r:id="Rb91a135d50b94d15"/>
    <p:sldId xmlns:r="http://schemas.openxmlformats.org/officeDocument/2006/relationships" id="265" r:id="R8f86fa33569347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7d6f853e884816" /><Relationship Type="http://schemas.openxmlformats.org/officeDocument/2006/relationships/slideMaster" Target="/ppt/slideMasters/slideMaster1.xml" Id="R52b7b362610f467b" /><Relationship Type="http://schemas.openxmlformats.org/officeDocument/2006/relationships/notesMaster" Target="/ppt/notesMasters/notesMaster1.xml" Id="R212ba8145e834caa" /><Relationship Type="http://schemas.openxmlformats.org/officeDocument/2006/relationships/presProps" Target="/ppt/presProps.xml" Id="R2dc62952c1f64025" /><Relationship Type="http://schemas.openxmlformats.org/officeDocument/2006/relationships/tableStyles" Target="/ppt/tableStyles.xml" Id="Rc1e36957941d4e9e" /><Relationship Type="http://schemas.openxmlformats.org/officeDocument/2006/relationships/slide" Target="/ppt/slides/slide1.xml" Id="Rb76d8abaaefb4c01" /><Relationship Type="http://schemas.openxmlformats.org/officeDocument/2006/relationships/slide" Target="/ppt/slides/slide2.xml" Id="R5c0c9360a5cc4323" /><Relationship Type="http://schemas.openxmlformats.org/officeDocument/2006/relationships/slide" Target="/ppt/slides/slide3.xml" Id="Ra3971d6dab374ba9" /><Relationship Type="http://schemas.openxmlformats.org/officeDocument/2006/relationships/slide" Target="/ppt/slides/slide4.xml" Id="Rc8574115584c434d" /><Relationship Type="http://schemas.openxmlformats.org/officeDocument/2006/relationships/slide" Target="/ppt/slides/slide5.xml" Id="R05abfd2695584bd3" /><Relationship Type="http://schemas.openxmlformats.org/officeDocument/2006/relationships/slide" Target="/ppt/slides/slide6.xml" Id="R4ebbc91a682741c6" /><Relationship Type="http://schemas.openxmlformats.org/officeDocument/2006/relationships/slide" Target="/ppt/slides/slide7.xml" Id="Rcd0810be53ea4287" /><Relationship Type="http://schemas.openxmlformats.org/officeDocument/2006/relationships/slide" Target="/ppt/slides/slide8.xml" Id="R1f8c40e883be4f9d" /><Relationship Type="http://schemas.openxmlformats.org/officeDocument/2006/relationships/slide" Target="/ppt/slides/slide9.xml" Id="Rb91a135d50b94d15" /><Relationship Type="http://schemas.openxmlformats.org/officeDocument/2006/relationships/slide" Target="/ppt/slides/slide10.xml" Id="R8f86fa33569347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6147f6c41a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10d4664da846d8" /><Relationship Type="http://schemas.openxmlformats.org/officeDocument/2006/relationships/notesMaster" Target="/ppt/notesMasters/notesMaster1.xml" Id="R405c96afbf0e45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45566d6e7945aa" /><Relationship Type="http://schemas.openxmlformats.org/officeDocument/2006/relationships/notesMaster" Target="/ppt/notesMasters/notesMaster1.xml" Id="Rfbf8474e0c374ec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bf6021a02545f2" /><Relationship Type="http://schemas.openxmlformats.org/officeDocument/2006/relationships/notesMaster" Target="/ppt/notesMasters/notesMaster1.xml" Id="R082917dd5f674b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41211d36ff4dc1" /><Relationship Type="http://schemas.openxmlformats.org/officeDocument/2006/relationships/notesMaster" Target="/ppt/notesMasters/notesMaster1.xml" Id="Ra656d422ec224b5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933359912423d" /><Relationship Type="http://schemas.openxmlformats.org/officeDocument/2006/relationships/notesMaster" Target="/ppt/notesMasters/notesMaster1.xml" Id="Rbb97703381a946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c3886068ea4a99" /><Relationship Type="http://schemas.openxmlformats.org/officeDocument/2006/relationships/notesMaster" Target="/ppt/notesMasters/notesMaster1.xml" Id="R7ea8eec41a4341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c4392e2b2e45d3" /><Relationship Type="http://schemas.openxmlformats.org/officeDocument/2006/relationships/notesMaster" Target="/ppt/notesMasters/notesMaster1.xml" Id="R71d2c40e5c7a40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a7e74537d2d41ac" /><Relationship Type="http://schemas.openxmlformats.org/officeDocument/2006/relationships/notesMaster" Target="/ppt/notesMasters/notesMaster1.xml" Id="Rf8aaea3513ec4d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76d01b9d9d4baf" /><Relationship Type="http://schemas.openxmlformats.org/officeDocument/2006/relationships/notesMaster" Target="/ppt/notesMasters/notesMaster1.xml" Id="R6227bdb1726541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9658cc9ef24580" /><Relationship Type="http://schemas.openxmlformats.org/officeDocument/2006/relationships/notesMaster" Target="/ppt/notesMasters/notesMaster1.xml" Id="R52d55efaa55542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титульный раздел и рис. 2. Изображение робота — концепт-визуализация, не фотография испытаний.</a:t>
            </a:r>
          </a:p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таблица паспортизации проекта. Контактные данные в слайд не включены.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2. Оценка 15–25 ч/нед взята из проектного документа и не проверена независимым замером; на слайде обозначена как оценка проекта.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1, 5–7. Функции описывают проектную концепцию и требуют подтверждения испытаниями.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5–7 и рис. 1. 22 степени свободы и подача жидкостей — спецификация проекта, не результат независимых испытаний.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Egin.docx, разделы 3, 6. Точность диагностики и автоматическое выполнение рекомендаций не заявляются как подтвержденные показатели.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Egin.docx, раздел 8 и рис. 6. Интерфейс сайта является демонстрацией; статусы роботов симулируются.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цен: src/components/OrderModal.tsx. Базовая цена 2 800 000 ₸; корзина 450 000 ₸; датчики 180 000 ₸; обучение 120 000 ₸. Комплект с корзиной и датчиками: 3 430 000 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Покупатель: расчет использует целевой показатель 20 ч/нед из Egin.docx и среднемесячную зарплату 365 262 ₸ в сельском хозяйстве, лесном и рыбном хозяйстве во II квартале 2026 года (Бюро национальной статистики РК: https://stat.gov.kz/en/industries/labor-and-venue/stat-wags/publications/514654/). 20 ч/нед приняты за половину стандартной 40-часовой недели. Простая окупаемость базовой цены 2,8 млн ₸: около 1,28 года при круглогодичном использовании или 2,56 года при шестимесячном сезоне. До обслуживания, электроэнергии, ремонтов, простоев и контроля человеком. Продавец: 30% валовой маржи от 2,8 млн ₸ требует себестоимости не выше 1,96 млн ₸; фактическая себестоимость неизвестна. Все оценки — сценарные, не гарантии.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Пятилетний срок — расчетное допущение для предварительной модели, не подтвержденный ресурс и не гарантийный срок. Следующий этап — пилот с измерением времени задач, расхода воды, надежности, циклов аккумулятора, обслуживания и простоев.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fb17a17b84c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38d6b495354a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565282102144d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70ac0fdeb42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23facfb0a46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b2bd63fa3046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24D20D9-AA16-4BAD-AF5F-9D2F48EE1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0983BA7-3610-48C3-BDF2-78519CF06E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519D8CD-DA28-4439-9D13-71F8D3D857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E790F1-D554-443A-A164-74891E641B7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37D74B7-14CF-45F4-8BD0-125BC48272A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E99917A-DF52-4B76-BA2E-DB3D7A3E6E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F988CF-B4DF-4410-93DA-04B41B6B1F6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6B7EFF5-3DAA-4E8B-B2E3-582C0613F6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76B5D2-D9B8-4BAF-82AE-8B827F77E6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0E3ECB-EEF1-47AC-B36E-A0D4CBEA34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7af8a7da264715" /><Relationship Type="http://schemas.openxmlformats.org/officeDocument/2006/relationships/slideLayout" Target="/ppt/slideLayouts/slideLayout1.xml" Id="R445f4bc329a2456a" /><Relationship Type="http://schemas.openxmlformats.org/officeDocument/2006/relationships/slideLayout" Target="/ppt/slideLayouts/slideLayout2.xml" Id="Rcf037c08a79041a0" /><Relationship Type="http://schemas.openxmlformats.org/officeDocument/2006/relationships/slideLayout" Target="/ppt/slideLayouts/slideLayout3.xml" Id="R8be58dd06666404d" /><Relationship Type="http://schemas.openxmlformats.org/officeDocument/2006/relationships/slideLayout" Target="/ppt/slideLayouts/slideLayout4.xml" Id="R69dcb8536b504594" /><Relationship Type="http://schemas.openxmlformats.org/officeDocument/2006/relationships/slideLayout" Target="/ppt/slideLayouts/slideLayout5.xml" Id="R2fd623eed184421c" /><Relationship Type="http://schemas.openxmlformats.org/officeDocument/2006/relationships/slideLayout" Target="/ppt/slideLayouts/slideLayout6.xml" Id="Re88095b53e66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5f4bc329a2456a"/>
    <p:sldLayoutId xmlns:r="http://schemas.openxmlformats.org/officeDocument/2006/relationships" id="2147483650" r:id="Rcf037c08a79041a0"/>
    <p:sldLayoutId xmlns:r="http://schemas.openxmlformats.org/officeDocument/2006/relationships" id="2147483651" r:id="R8be58dd06666404d"/>
    <p:sldLayoutId xmlns:r="http://schemas.openxmlformats.org/officeDocument/2006/relationships" id="2147483652" r:id="R69dcb8536b504594"/>
    <p:sldLayoutId xmlns:r="http://schemas.openxmlformats.org/officeDocument/2006/relationships" id="2147483653" r:id="R2fd623eed184421c"/>
    <p:sldLayoutId xmlns:r="http://schemas.openxmlformats.org/officeDocument/2006/relationships" id="2147483654" r:id="Re88095b53e66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35b7df4c246f6" /><Relationship Type="http://schemas.openxmlformats.org/officeDocument/2006/relationships/image" Target="/ppt/media/image.jpeg" Id="R4561a40924894fc6" /><Relationship Type="http://schemas.openxmlformats.org/officeDocument/2006/relationships/notesSlide" Target="/ppt/notesSlides/notesSlide1.xml" Id="R6914079c2f124f2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0f6c1ba40e4bc2" /><Relationship Type="http://schemas.openxmlformats.org/officeDocument/2006/relationships/notesSlide" Target="/ppt/notesSlides/notesSlide2.xml" Id="Ra182b2876deb44a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c3e81901d742b1" /><Relationship Type="http://schemas.openxmlformats.org/officeDocument/2006/relationships/image" Target="/ppt/media/image2.jpeg" Id="R9a3ee9ed330d4258" /><Relationship Type="http://schemas.openxmlformats.org/officeDocument/2006/relationships/notesSlide" Target="/ppt/notesSlides/notesSlide3.xml" Id="Rcf5c27e90e4b44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4743fb93e04150" /><Relationship Type="http://schemas.openxmlformats.org/officeDocument/2006/relationships/image" Target="/ppt/media/image3.jpeg" Id="R7bf5ad3f434b49da" /><Relationship Type="http://schemas.openxmlformats.org/officeDocument/2006/relationships/notesSlide" Target="/ppt/notesSlides/notesSlide4.xml" Id="Rc9ce275374ef49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e3484794d4404" /><Relationship Type="http://schemas.openxmlformats.org/officeDocument/2006/relationships/image" Target="/ppt/media/image4.jpeg" Id="R546e2e9e51574bc9" /><Relationship Type="http://schemas.openxmlformats.org/officeDocument/2006/relationships/notesSlide" Target="/ppt/notesSlides/notesSlide5.xml" Id="R4fd90efb65b54f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eddba61fe44d98" /><Relationship Type="http://schemas.openxmlformats.org/officeDocument/2006/relationships/image" Target="/ppt/media/image5.jpeg" Id="R8f802cf31bf84958" /><Relationship Type="http://schemas.openxmlformats.org/officeDocument/2006/relationships/notesSlide" Target="/ppt/notesSlides/notesSlide6.xml" Id="R22bd340041bf48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704e9350864443" /><Relationship Type="http://schemas.openxmlformats.org/officeDocument/2006/relationships/image" Target="/ppt/media/image6.jpeg" Id="R9a296ee9aead4b57" /><Relationship Type="http://schemas.openxmlformats.org/officeDocument/2006/relationships/notesSlide" Target="/ppt/notesSlides/notesSlide7.xml" Id="Rb9c7c08537bf45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422a96e65b4d41" /><Relationship Type="http://schemas.openxmlformats.org/officeDocument/2006/relationships/image" Target="/ppt/media/image7.jpeg" Id="R9b433e551984441b" /><Relationship Type="http://schemas.openxmlformats.org/officeDocument/2006/relationships/notesSlide" Target="/ppt/notesSlides/notesSlide8.xml" Id="R12d3409272234c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9f8622c72c455b" /><Relationship Type="http://schemas.openxmlformats.org/officeDocument/2006/relationships/notesSlide" Target="/ppt/notesSlides/notesSlide9.xml" Id="Rb37274c176934ec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ab2523e12249e0" /><Relationship Type="http://schemas.openxmlformats.org/officeDocument/2006/relationships/notesSlide" Target="/ppt/notesSlides/notesSlide10.xml" Id="R3229bd0f138e4e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4D5B4-BF84-46AC-886F-6D884A85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AQMOLA POWER  • 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5295D-E34A-4E65-9921-C5C1EF89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899"/>
          </a:bodyPr>
          <a:lstStyle xmlns:a="http://schemas.openxmlformats.org/drawingml/2006/main">
            <a:def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9D0403-B7C1-4DBA-AD38-578861A26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4857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АГРО-РОБОТ</a:t>
            </a:r>
          </a:p>
          <a:p xmlns:a="http://schemas.openxmlformats.org/drawingml/2006/main">
            <a:pPr algn="l">
              <a:defRPr sz="255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ТЕПЛИЦЫ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FE791-ADBF-41D7-808A-364206D4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4333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Робототехника  ×  ИИ  ×  агротехнологии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A1EE0-F773-44C2-9925-B5AA184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Абай Тлеугалиев  •  Astana IT University / JanaBales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72F97-07B9-459F-9668-484ED28D90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1a40924894fc6"/>
          <a:stretch xmlns:a="http://schemas.openxmlformats.org/drawingml/2006/main"/>
        </p:blipFill>
        <p:spPr>
          <a:xfrm xmlns:a="http://schemas.openxmlformats.org/drawingml/2006/main">
            <a:off x="5810250" y="1815066"/>
            <a:ext cx="5715000" cy="3189767"/>
          </a:xfrm>
          <a:prstGeom xmlns:a="http://schemas.openxmlformats.org/drawingml/2006/main" prst="roundRect">
            <a:avLst>
              <a:gd name="adj" fmla="val 214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78B6C-CEB4-454D-9807-EE85D5CA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579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КОНЦЕПТ ПРОЕКТА  •  КОСШЫ, АКМОЛИНСКАЯ ОБЛАСТЬ</a:t>
            </a:r>
          </a:p>
        </p:txBody>
      </p:sp>
    </p:spTree>
    <p:extLst>
      <p:ext uri="{BB962C8B-B14F-4D97-AF65-F5344CB8AC3E}">
        <p14:creationId xmlns:p14="http://schemas.microsoft.com/office/powerpoint/2010/main" val="495837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6B543-32D5-422C-8533-9A2F945B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Автор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A11F0-A862-4974-A2FD-53CC3F61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714B3F-F928-40CF-88C4-71E20A3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9351D-291F-41F5-B33F-AEAD3C34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621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Абай Тлеугалиев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89385-F326-45C8-B76F-6AE353EB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Astana IT University  /  JanaBales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559A39-E774-4ABF-86F0-24FA3EFB9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19E603-1DC4-4900-96FF-5E628CB70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РОБОТОТЕХНИКА     ×     ИСКУССТВЕННЫЙ ИНТЕЛЛЕКТ     ×     АГРОТЕХНОЛОГИИ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FC9B3-4599-4CC3-9CBF-83EFAB58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000625"/>
            <a:ext cx="885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EGIN — проект для теплиц и небольших хозяйств Акмолинской области</a:t>
            </a:r>
          </a:p>
        </p:txBody>
      </p:sp>
    </p:spTree>
    <p:extLst>
      <p:ext uri="{BB962C8B-B14F-4D97-AF65-F5344CB8AC3E}">
        <p14:creationId xmlns:p14="http://schemas.microsoft.com/office/powerpoint/2010/main" val="2133234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053D5B-E24F-42AD-B197-909532818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Рутинный уход отнимает время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1A64C-225C-493E-8854-B42E6E93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E8EDD-012D-4060-A1E6-BBE0AB17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31B0B-6F40-42C8-A19F-77080C81E9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ee9ed330d4258"/>
          <a:srcRect xmlns:a="http://schemas.openxmlformats.org/drawingml/2006/main" l="13372" t="0" r="133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04950"/>
            <a:ext cx="5334000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B29BE-03E9-4554-BC48-E10F097B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ОЦЕНКА ПРОЕКТА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B52CC-29DC-4DA0-86BD-E356BA7A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762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15–25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E002D-CDBC-4C46-8331-A67AE49D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часов ручной работы в неделю*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FE2CC7-0208-44D6-B4C3-8B5AAC8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57625"/>
            <a:ext cx="4095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Полив  •  прополка  •  осмотр растений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56730-C50A-45B2-90A3-32AFDB62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Оценка из проектного документа; проверяется замерами в пилоте.</a:t>
            </a:r>
          </a:p>
        </p:txBody>
      </p:sp>
    </p:spTree>
    <p:extLst>
      <p:ext uri="{BB962C8B-B14F-4D97-AF65-F5344CB8AC3E}">
        <p14:creationId xmlns:p14="http://schemas.microsoft.com/office/powerpoint/2010/main" val="2103109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8E40C1-C26B-4A62-8A70-E42C56817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EGIN — помощник для теплицы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9E95A-6F8D-4CB4-9A64-5BA1742D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E1910E-AB66-4C95-9E05-19867358C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94CDC-93E2-487C-9559-DF8803A9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ПРОЕКТНАЯ КОНЦЕПЦИЯ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01BF4-9E85-44AC-B261-1727CAE2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Рутина —</a:t>
            </a:r>
          </a:p>
          <a:p xmlns:a="http://schemas.openxmlformats.org/drawingml/2006/main">
            <a:pPr algn="l">
              <a:defRPr sz="35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под контроль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0D3AA-895B-453E-AF7F-BC8E094E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Точечный полив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Мониторинг растений</a:t>
            </a:r>
          </a:p>
          <a:p xmlns:a="http://schemas.openxmlformats.org/drawingml/2006/main">
            <a:pPr algn="l">
              <a:defRPr sz="18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Перенос урожая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28D84E-4638-4F96-AF42-3E3CBBBF3B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5ad3f434b49da"/>
          <a:srcRect xmlns:a="http://schemas.openxmlformats.org/drawingml/2006/main" l="11130" t="0" r="111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1428750"/>
            <a:ext cx="5572125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1CC14-4B5F-4866-B940-4B98941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4381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Задача робота — помогать человеку, а не заменять агронома.</a:t>
            </a:r>
          </a:p>
        </p:txBody>
      </p:sp>
    </p:spTree>
    <p:extLst>
      <p:ext uri="{BB962C8B-B14F-4D97-AF65-F5344CB8AC3E}">
        <p14:creationId xmlns:p14="http://schemas.microsoft.com/office/powerpoint/2010/main" val="1442932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FF7E6-816B-47FA-B86A-0FB7E677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Конструкция для работы у грядок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91FC8-44D9-4C02-AF21-E73DA0525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DB8369-F278-45FB-B7C0-4C9C8120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43F65-983F-41E1-A9AF-4AEFE2DD04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6e2e9e51574bc9"/>
          <a:srcRect xmlns:a="http://schemas.openxmlformats.org/drawingml/2006/main" l="13411" t="0" r="1341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28750"/>
            <a:ext cx="5619750" cy="4286250"/>
          </a:xfrm>
          <a:prstGeom xmlns:a="http://schemas.openxmlformats.org/drawingml/2006/main" prst="roundRect">
            <a:avLst>
              <a:gd name="adj" fmla="val 2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ED2104-B09D-4C4E-AE15-3B0342DA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19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ИНЖЕНЕРНАЯ КОНЦЕПЦИЯ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5EFA8C-DDDD-492C-9D6D-9BD08D7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76450"/>
            <a:ext cx="400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7E01F-2127-4575-9ADF-0B82C157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степени свободы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CB56B-71BB-444F-97DC-79F40884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DF585-E74C-4F66-8F47-4C268423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957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Ладонный полив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7FAF0-20C8-4E68-8914-603DDDF6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196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вода  +  жидкая подкормка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08806-AA93-4EE0-A5E4-134F9136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07682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Модульная корзина Follow-Me</a:t>
            </a:r>
          </a:p>
        </p:txBody>
      </p:sp>
    </p:spTree>
    <p:extLst>
      <p:ext uri="{BB962C8B-B14F-4D97-AF65-F5344CB8AC3E}">
        <p14:creationId xmlns:p14="http://schemas.microsoft.com/office/powerpoint/2010/main" val="854196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470052-302A-4959-9A2F-E007828D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Зрение, AR и ИИ-агроном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21F163-1D95-4984-89A5-E0C1181D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A0793-64F1-41E6-B919-831385C6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FFED4B-6409-4132-BDA1-62B96186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ЗАЛОЖЕННЫЕ ФУНКЦИИ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620B2-B0DE-4E47-8050-F4490F49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ИИ-зрение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BBBA1-B350-4E26-AF7C-297A2B5E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479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наблюдение за культурами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BFFE1-EC9F-4A74-AFA2-3CC1CC24B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AR-разметка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7C86FD-3D1B-49F3-A1D3-EA92B347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814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границы и карта грядок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C5C90-4819-4C63-98F4-437F1FC2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86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ИИ-агроном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94EC8-E19C-4A91-9232-038C0CA1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вопросы по уходу за растениями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FB9F5-D5F4-4FDF-AB04-23D614F45E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02cf31bf84958"/>
          <a:srcRect xmlns:a="http://schemas.openxmlformats.org/drawingml/2006/main" l="12338" t="0" r="123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1524000"/>
            <a:ext cx="5524500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8A5555-F431-4C41-9420-EA8B7FE3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Точность распознавания и рекомендации должны быть подтверждены испытаниями.</a:t>
            </a:r>
          </a:p>
        </p:txBody>
      </p:sp>
    </p:spTree>
    <p:extLst>
      <p:ext uri="{BB962C8B-B14F-4D97-AF65-F5344CB8AC3E}">
        <p14:creationId xmlns:p14="http://schemas.microsoft.com/office/powerpoint/2010/main" val="1537266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E0A0DD-A547-4588-AF47-9CB2DC51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Цифровая часть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7E4CC-2B70-484D-9CCA-5F530F58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97E1AD-2B87-4928-A7A4-EE91091F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F9A245-FFE7-4C1F-8F01-8971D2BE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САЙТ И EGIN APP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A56E9-B94E-4F99-A243-8306BEC0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Симуляция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Панель управления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Мобильный интерфейс</a:t>
            </a:r>
          </a:p>
          <a:p xmlns:a="http://schemas.openxmlformats.org/drawingml/2006/main">
            <a:pPr algn="l">
              <a:defRPr sz="21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ИИ-чат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1162D8-DFD5-4FD3-8A17-1ADF1A6B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Форма заявки —</a:t>
            </a:r>
          </a:p>
          <a:p xmlns:a="http://schemas.openxmlformats.org/drawingml/2006/main">
            <a:pPr algn="l">
              <a:defRPr sz="15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демонстрационная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24CC43-D3AF-4DD3-AF90-D0865805E9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296ee9aead4b57"/>
          <a:srcRect xmlns:a="http://schemas.openxmlformats.org/drawingml/2006/main" l="12061" t="0" r="120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1371600"/>
            <a:ext cx="5572125" cy="409575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897DB-7DC3-451C-B1B6-C33BAE5D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76925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Сайт показывает цифровой прототип; телеметрия роботов в симуляции демонстрационная.</a:t>
            </a:r>
          </a:p>
        </p:txBody>
      </p:sp>
    </p:spTree>
    <p:extLst>
      <p:ext uri="{BB962C8B-B14F-4D97-AF65-F5344CB8AC3E}">
        <p14:creationId xmlns:p14="http://schemas.microsoft.com/office/powerpoint/2010/main" val="198682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C8B1F-EA21-4BF3-BCE1-69B22040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Цена и комплектация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1B2E0-FD9A-4FC5-BE9B-D79CE42A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3C669D-A60F-48C1-96DC-24D6C8CB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5F00C-273C-4D06-A73B-7C2419206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БАЗОВАЯ ЦЕНА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1E840-3B23-44F0-B794-C16A8A2A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2,8 млн 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9361E9-0DE4-40C7-B78A-7BD105AD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765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Робот EGIN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57E92-066B-44DA-BD51-109E91A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4857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BF3C98-2A74-4481-A623-39A46062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+ 450 тыс. ₸   корзина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B6A7D1-7A6D-460C-8E2A-0AB66908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+ 180 тыс. ₸   датчики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8C494-66B4-4129-B09B-0223D726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457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+ 120 тыс. ₸   обучение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B41884-7432-4517-A06A-3A76FA4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3,43 млн ₸  с корзиной и датчиками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F602DD-EAA6-424C-9E29-04DBBC393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33e551984441b"/>
          <a:stretch xmlns:a="http://schemas.openxmlformats.org/drawingml/2006/main"/>
        </p:blipFill>
        <p:spPr>
          <a:xfrm xmlns:a="http://schemas.openxmlformats.org/drawingml/2006/main">
            <a:off x="6096000" y="2003351"/>
            <a:ext cx="5381625" cy="3003698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6587535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BAAB0-265E-46E2-A898-1F8F9C0A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Экономика: сценарий, не гарантия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4CAE0-F238-4EAE-B467-D8941BDD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5E838-B7E6-4754-8E47-B7287A604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2E52E-0EFE-4E49-90AC-53E8BF9F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387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25E7E-A3E9-45AD-B9E4-9E8B417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111C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7A2B1-31A7-46DC-9A40-B9840349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ПОКУПАТЕЛЬ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CB4A9-3EF8-437F-B437-B4FA758E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28850"/>
            <a:ext cx="45243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825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1,3–2,6 года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591D6-786F-45D5-A85B-CA6A16EE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52775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простая окупаемость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при экономии 20 ч/нед*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DBAFF9-BB07-4931-97DB-A8CCF75F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38625"/>
            <a:ext cx="4429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Круглогодично: ~1,3 года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Сезон 6 месяцев: ~2,6 года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53636C-FF4E-49A9-9F3B-19010A0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192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ПРОДАВЕЦ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8C497-C747-4589-89C9-4299533C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447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≤ 1,96 млн 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A6994A-857E-460B-8970-F1F57EDE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33725"/>
            <a:ext cx="4381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предельная себестоимость</a:t>
            </a:r>
          </a:p>
          <a:p xmlns:a="http://schemas.openxmlformats.org/drawingml/2006/main">
            <a:pPr algn="l">
              <a:defRPr sz="1575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для 30% валовой маржи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8635E-8009-4D28-9D66-B3348235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29100"/>
            <a:ext cx="4381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От базовой цены 2,8 млн ₸;</a:t>
            </a:r>
          </a:p>
          <a:p xmlns:a="http://schemas.openxmlformats.org/drawingml/2006/main">
            <a:pPr algn="l">
              <a:defRPr sz="1275" b="0">
                <a:solidFill>
                  <a:srgbClr val="A9B6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9B6AE"/>
                </a:solidFill>
                <a:latin typeface="Arial"/>
                <a:ea typeface="Arial"/>
                <a:cs typeface="Arial"/>
              </a:rPr>
              <a:t>до сервиса и гарантий.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8D4D5-9808-4DF5-8D2E-AE95AAD6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721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По отраслевой средней зарплате 365 262 ₸/мес, II кв. 2026; до расходов на обслуживание.</a:t>
            </a:r>
          </a:p>
        </p:txBody>
      </p:sp>
    </p:spTree>
    <p:extLst>
      <p:ext uri="{BB962C8B-B14F-4D97-AF65-F5344CB8AC3E}">
        <p14:creationId xmlns:p14="http://schemas.microsoft.com/office/powerpoint/2010/main" val="151331812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04D8E-1205-4E19-840D-C5BF6EE9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Срок службы проверим пилотом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F9BAB-42A4-4EA2-80D4-FA612411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7429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757BC-3C82-4761-B1BE-C0EE8C96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341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975" b="1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8078"/>
                </a:solidFill>
                <a:latin typeface="Arial"/>
                <a:ea typeface="Arial"/>
                <a:cs typeface="Arial"/>
              </a:rPr>
              <a:t>EGIN  •  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0ADCC4-82A1-43C1-B17B-B78727D1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5 лет*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547A2-0BB3-4CD0-8348-792FFA3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сценарий для расчёта,</a:t>
            </a:r>
          </a:p>
          <a:p xmlns:a="http://schemas.openxmlformats.org/drawingml/2006/main">
            <a:pPr algn="l">
              <a:defRPr sz="1650" b="0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2F1E9"/>
                </a:solidFill>
                <a:latin typeface="Arial"/>
                <a:ea typeface="Arial"/>
                <a:cs typeface="Arial"/>
              </a:rPr>
              <a:t>не подтверждённый ресурс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43BED5-3BF8-4A29-9A13-4E036D47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9525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9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1B64D7-FC3A-44CE-8606-D32E3DCA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764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91D59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91D59D"/>
                </a:solidFill>
                <a:latin typeface="Arial"/>
                <a:ea typeface="Arial"/>
                <a:cs typeface="Arial"/>
              </a:rPr>
              <a:t>ЧТО ИЗМЕРИМ В ПИЛОТЕ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BCC4A8-BC86-49DF-A896-878F5D44E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431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Наработка и простои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3C9FF-7F5B-42D4-B0BB-3867041D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099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Аккумулятор и ремонт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89CF8-87C0-4321-B842-8ED8029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766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Время, вода,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D9F602-98E9-4235-BE00-F682B862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767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D5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774A4-1D5A-4283-8C8D-11E62851A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Следующий шаг —</a:t>
            </a:r>
          </a:p>
          <a:p xmlns:a="http://schemas.openxmlformats.org/drawingml/2006/main">
            <a:pPr algn="l">
              <a:defRPr sz="1725" b="1">
                <a:solidFill>
                  <a:srgbClr val="F2F1E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2F1E9"/>
                </a:solidFill>
                <a:latin typeface="Arial"/>
                <a:ea typeface="Arial"/>
                <a:cs typeface="Arial"/>
              </a:rPr>
              <a:t>пилотная теплица в Акмолинской области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D10077-B392-4DBF-8974-ADFE3987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defPPr>
            <a:lvl1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1pPr>
            <a:lvl2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2pPr>
            <a:lvl3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3pPr>
            <a:lvl4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4pPr>
            <a:lvl5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5pPr>
            <a:lvl6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6pPr>
            <a:lvl7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7pPr>
            <a:lvl8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8pPr>
            <a:lvl9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70807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8078"/>
                </a:solidFill>
                <a:latin typeface="Arial"/>
                <a:ea typeface="Arial"/>
                <a:cs typeface="Arial"/>
              </a:rPr>
              <a:t>* Расчётное допущение, не срок гарантии.</a:t>
            </a:r>
          </a:p>
        </p:txBody>
      </p:sp>
    </p:spTree>
    <p:extLst>
      <p:ext uri="{BB962C8B-B14F-4D97-AF65-F5344CB8AC3E}">
        <p14:creationId xmlns:p14="http://schemas.microsoft.com/office/powerpoint/2010/main" val="983348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2026-10-27T03:10:10.4990000Z</dcterms:created>
  <dcterms:modified xsi:type="dcterms:W3CDTF">2026-10-27T03:10:10.4990000Z</dcterms:modified>
</coreProperties>
</file>