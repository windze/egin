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51adcfa7eb453f" /><Relationship Type="http://schemas.openxmlformats.org/officeDocument/2006/relationships/extended-properties" Target="/docProps/app.xml" Id="Rc4b63a245cbc412a" /><Relationship Type="http://schemas.openxmlformats.org/officeDocument/2006/relationships/officeDocument" Target="/ppt/presentation.xml" Id="Rf0ea7838cf68441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72974b0e12e4176"/>
  </p:sldMasterIdLst>
  <p:notesMasterIdLst>
    <p:notesMasterId xmlns:r="http://schemas.openxmlformats.org/officeDocument/2006/relationships" r:id="R612ba915cf3c4420"/>
  </p:notesMasterIdLst>
  <p:sldIdLst>
    <p:sldId xmlns:r="http://schemas.openxmlformats.org/officeDocument/2006/relationships" id="256" r:id="R4783273dc3c14007"/>
    <p:sldId xmlns:r="http://schemas.openxmlformats.org/officeDocument/2006/relationships" id="257" r:id="Rc2a7399ca76048b5"/>
    <p:sldId xmlns:r="http://schemas.openxmlformats.org/officeDocument/2006/relationships" id="258" r:id="Re7e969360e134568"/>
    <p:sldId xmlns:r="http://schemas.openxmlformats.org/officeDocument/2006/relationships" id="259" r:id="Rbf72a5b2f89d4da9"/>
    <p:sldId xmlns:r="http://schemas.openxmlformats.org/officeDocument/2006/relationships" id="260" r:id="Ra30f5fc77d5e4009"/>
    <p:sldId xmlns:r="http://schemas.openxmlformats.org/officeDocument/2006/relationships" id="261" r:id="R441e97b6a0854edb"/>
    <p:sldId xmlns:r="http://schemas.openxmlformats.org/officeDocument/2006/relationships" id="262" r:id="R8f5568be5bca4104"/>
    <p:sldId xmlns:r="http://schemas.openxmlformats.org/officeDocument/2006/relationships" id="263" r:id="R782065b2fa1749d9"/>
    <p:sldId xmlns:r="http://schemas.openxmlformats.org/officeDocument/2006/relationships" id="264" r:id="R43cb080a71894966"/>
    <p:sldId xmlns:r="http://schemas.openxmlformats.org/officeDocument/2006/relationships" id="265" r:id="Rde01d4ff6c894a06"/>
    <p:sldId xmlns:r="http://schemas.openxmlformats.org/officeDocument/2006/relationships" id="266" r:id="R50bbc96c91c74cd0"/>
    <p:sldId xmlns:r="http://schemas.openxmlformats.org/officeDocument/2006/relationships" id="267" r:id="Rffe3b149c67c4086"/>
    <p:sldId xmlns:r="http://schemas.openxmlformats.org/officeDocument/2006/relationships" id="268" r:id="Rd061e286f09c47eb"/>
    <p:sldId xmlns:r="http://schemas.openxmlformats.org/officeDocument/2006/relationships" id="269" r:id="R2bf90a7e7ca34199"/>
    <p:sldId xmlns:r="http://schemas.openxmlformats.org/officeDocument/2006/relationships" id="270" r:id="R54f945da56204c7e"/>
  </p:sldIdLst>
  <p:sldSz cx="18288000" cy="10287000"/>
  <p:notesSz cx="6858000" cy="9144000"/>
  <p:embeddedFontLst>
    <p:embeddedFont>
      <p:font typeface="Vollkorn Italics"/>
      <p:regular xmlns:r="http://schemas.openxmlformats.org/officeDocument/2006/relationships" r:id="R88e6c16411aa41f0"/>
    </p:embeddedFont>
    <p:embeddedFont>
      <p:font typeface="HK Grotesk Bold"/>
      <p:regular xmlns:r="http://schemas.openxmlformats.org/officeDocument/2006/relationships" r:id="Rfbd98848b64047b0"/>
    </p:embeddedFont>
    <p:embeddedFont>
      <p:font typeface="Noto Sans JP"/>
      <p:regular xmlns:r="http://schemas.openxmlformats.org/officeDocument/2006/relationships" r:id="R494f81ad228b42a7"/>
    </p:embeddedFont>
    <p:embeddedFont>
      <p:font typeface="HK Grotesk Medium"/>
      <p:regular xmlns:r="http://schemas.openxmlformats.org/officeDocument/2006/relationships" r:id="R293e076878fa4610"/>
    </p:embeddedFont>
    <p:embeddedFont>
      <p:font typeface="Vollkorn"/>
      <p:regular xmlns:r="http://schemas.openxmlformats.org/officeDocument/2006/relationships" r:id="Rfed88ad6513149b4"/>
    </p:embeddedFont>
  </p:embeddedFontLst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eddf62381b4891" /><Relationship Type="http://schemas.openxmlformats.org/officeDocument/2006/relationships/slideMaster" Target="/ppt/slideMasters/slideMaster1.xml" Id="Rc72974b0e12e4176" /><Relationship Type="http://schemas.openxmlformats.org/officeDocument/2006/relationships/notesMaster" Target="/ppt/notesMasters/notesMaster1.xml" Id="R612ba915cf3c4420" /><Relationship Type="http://schemas.openxmlformats.org/officeDocument/2006/relationships/presProps" Target="/ppt/presProps.xml" Id="Re73c4abdbec84953" /><Relationship Type="http://schemas.openxmlformats.org/officeDocument/2006/relationships/viewProps" Target="/ppt/viewProps.xml" Id="Rbcc61d1967ac462e" /><Relationship Type="http://schemas.openxmlformats.org/officeDocument/2006/relationships/tableStyles" Target="/ppt/tableStyles.xml" Id="R06fc785c7f4749f1" /><Relationship Type="http://schemas.openxmlformats.org/officeDocument/2006/relationships/font" Target="/ppt/fonts/font.dat" Id="R88e6c16411aa41f0" /><Relationship Type="http://schemas.openxmlformats.org/officeDocument/2006/relationships/font" Target="/ppt/fonts/font2.dat" Id="Rfbd98848b64047b0" /><Relationship Type="http://schemas.openxmlformats.org/officeDocument/2006/relationships/font" Target="/ppt/fonts/font3.dat" Id="R494f81ad228b42a7" /><Relationship Type="http://schemas.openxmlformats.org/officeDocument/2006/relationships/font" Target="/ppt/fonts/font4.dat" Id="R293e076878fa4610" /><Relationship Type="http://schemas.openxmlformats.org/officeDocument/2006/relationships/font" Target="/ppt/fonts/font5.dat" Id="Rfed88ad6513149b4" /><Relationship Type="http://schemas.openxmlformats.org/officeDocument/2006/relationships/slide" Target="/ppt/slides/slide1.xml" Id="R4783273dc3c14007" /><Relationship Type="http://schemas.openxmlformats.org/officeDocument/2006/relationships/slide" Target="/ppt/slides/slide2.xml" Id="Rc2a7399ca76048b5" /><Relationship Type="http://schemas.openxmlformats.org/officeDocument/2006/relationships/slide" Target="/ppt/slides/slide3.xml" Id="Re7e969360e134568" /><Relationship Type="http://schemas.openxmlformats.org/officeDocument/2006/relationships/slide" Target="/ppt/slides/slide4.xml" Id="Rbf72a5b2f89d4da9" /><Relationship Type="http://schemas.openxmlformats.org/officeDocument/2006/relationships/slide" Target="/ppt/slides/slide5.xml" Id="Ra30f5fc77d5e4009" /><Relationship Type="http://schemas.openxmlformats.org/officeDocument/2006/relationships/slide" Target="/ppt/slides/slide6.xml" Id="R441e97b6a0854edb" /><Relationship Type="http://schemas.openxmlformats.org/officeDocument/2006/relationships/slide" Target="/ppt/slides/slide7.xml" Id="R8f5568be5bca4104" /><Relationship Type="http://schemas.openxmlformats.org/officeDocument/2006/relationships/slide" Target="/ppt/slides/slide8.xml" Id="R782065b2fa1749d9" /><Relationship Type="http://schemas.openxmlformats.org/officeDocument/2006/relationships/slide" Target="/ppt/slides/slide9.xml" Id="R43cb080a71894966" /><Relationship Type="http://schemas.openxmlformats.org/officeDocument/2006/relationships/slide" Target="/ppt/slides/slide10.xml" Id="Rde01d4ff6c894a06" /><Relationship Type="http://schemas.openxmlformats.org/officeDocument/2006/relationships/slide" Target="/ppt/slides/slide11.xml" Id="R50bbc96c91c74cd0" /><Relationship Type="http://schemas.openxmlformats.org/officeDocument/2006/relationships/slide" Target="/ppt/slides/slide12.xml" Id="Rffe3b149c67c4086" /><Relationship Type="http://schemas.openxmlformats.org/officeDocument/2006/relationships/slide" Target="/ppt/slides/slide13.xml" Id="Rd061e286f09c47eb" /><Relationship Type="http://schemas.openxmlformats.org/officeDocument/2006/relationships/slide" Target="/ppt/slides/slide14.xml" Id="R2bf90a7e7ca34199" /><Relationship Type="http://schemas.openxmlformats.org/officeDocument/2006/relationships/slide" Target="/ppt/slides/slide15.xml" Id="R54f945da5620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838932a02b4a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d21e2259494ea0" /><Relationship Type="http://schemas.openxmlformats.org/officeDocument/2006/relationships/notesMaster" Target="/ppt/notesMasters/notesMaster1.xml" Id="Ra8f3f3c42bb24a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2e1b4b952542ad" /><Relationship Type="http://schemas.openxmlformats.org/officeDocument/2006/relationships/notesMaster" Target="/ppt/notesMasters/notesMaster1.xml" Id="R237a5348651a49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d0f13ba7894274" /><Relationship Type="http://schemas.openxmlformats.org/officeDocument/2006/relationships/notesMaster" Target="/ppt/notesMasters/notesMaster1.xml" Id="R972e3e4ecaf84e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4b9f051e354610" /><Relationship Type="http://schemas.openxmlformats.org/officeDocument/2006/relationships/notesMaster" Target="/ppt/notesMasters/notesMaster1.xml" Id="R76145d42ddb148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4620e29736482b" /><Relationship Type="http://schemas.openxmlformats.org/officeDocument/2006/relationships/notesMaster" Target="/ppt/notesMasters/notesMaster1.xml" Id="R2e73083424d24a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edf6fc8a7e4be6" /><Relationship Type="http://schemas.openxmlformats.org/officeDocument/2006/relationships/notesMaster" Target="/ppt/notesMasters/notesMaster1.xml" Id="Rb06598931a714f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2f9079c1f44aab" /><Relationship Type="http://schemas.openxmlformats.org/officeDocument/2006/relationships/notesMaster" Target="/ppt/notesMasters/notesMaster1.xml" Id="Rfecb3dc31dad47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58ac0059ae45d1" /><Relationship Type="http://schemas.openxmlformats.org/officeDocument/2006/relationships/notesMaster" Target="/ppt/notesMasters/notesMaster1.xml" Id="R1e0360a9987b40d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2e199662424182" /><Relationship Type="http://schemas.openxmlformats.org/officeDocument/2006/relationships/notesMaster" Target="/ppt/notesMasters/notesMaster1.xml" Id="R8bbc37fe250f44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7a267ea1b44e21" /><Relationship Type="http://schemas.openxmlformats.org/officeDocument/2006/relationships/notesMaster" Target="/ppt/notesMasters/notesMaster1.xml" Id="R5ad4d94421aa49b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650e5b4c3944032" /><Relationship Type="http://schemas.openxmlformats.org/officeDocument/2006/relationships/notesMaster" Target="/ppt/notesMasters/notesMaster1.xml" Id="R1905c05ee4354cb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70215f214214fd8" /><Relationship Type="http://schemas.openxmlformats.org/officeDocument/2006/relationships/notesMaster" Target="/ppt/notesMasters/notesMaster1.xml" Id="Re90e800eebc049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a0d78532cd4c8e" /><Relationship Type="http://schemas.openxmlformats.org/officeDocument/2006/relationships/notesMaster" Target="/ppt/notesMasters/notesMaster1.xml" Id="Rebc564ace4324b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72d70c42c574457" /><Relationship Type="http://schemas.openxmlformats.org/officeDocument/2006/relationships/notesMaster" Target="/ppt/notesMasters/notesMaster1.xml" Id="R6adc06093df641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574146e3b6d48a5" /><Relationship Type="http://schemas.openxmlformats.org/officeDocument/2006/relationships/notesMaster" Target="/ppt/notesMasters/notesMaster1.xml" Id="Rdb0a959300be49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Egin.docx. Оценка 15–25 часов в неделю приведена в проектном документе и требует проверки замерами.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Egin.docx. 22 степени свободы — параметр проектной концепции.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цен: форма бронирования на сайте EGIN. Базовая цена 2 800 000 ₸; комплект с корзиной и датчиками — 3 430 000 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Сценарная оценка, не гарантия. Расчет покупателя основан на среднемесячной зарплате в агросекторе и целевой экономии 20 часов работы в неделю. Реальные расходы на обслуживание не учтены. Пятилетний срок службы — допущение для модели, подтвержденного ресурса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0338b614a40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263b3ac5c47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a2b8781804e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c56107eea40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d5f68d2a441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1fcaedb684431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ee973bc644be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b5c8e6f9884b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67456e77dd4b4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1fabe6639420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abf4d16e394cd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70B2A6-C1D0-4FCF-A617-A68CF7AB6B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4473473-739A-47AE-9C5B-FBDA6D2204A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236BB9-C65C-414D-8DCA-4A46CEDB90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7DB2FA-2926-4710-B4E6-8E7FE7D452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C46D82-15BB-4572-A1B5-1F96715D45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93C9E2-6A11-44EF-8690-79A050EFD5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D0D1300-5AE7-44A3-BBB2-7A293F96E5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0E3200-9941-4C62-8E43-AD267BEE93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2677811-F5F1-4616-AA2A-C813EB120B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F0EE555-0E78-4265-A3C1-1B6C3E7168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648DEC-4136-4E4B-A735-FE744313C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94188B9-F101-41C4-893D-EC5F22F33C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43C96F-664B-41AA-9EC8-6F8A2AC7B7A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D915D8-F842-4F2D-911E-FB8D7D0E017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4037365-535E-49A3-AB27-3FA634F5E5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BA7AD6-0AC0-4685-B715-596371BA3B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664A3B7-6ADD-42B1-8AA3-C63CAAC9158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A97A459-B97F-4D7B-8D80-32BFE6B641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5C9F49B-6111-40FD-8E6D-0DCF085ADC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D5E105E-27B0-4F89-9795-98BA6FC0BA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106B6F5-F6C8-441C-AB2D-765FDB6D1A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7FE396-B867-4DB9-B5DD-3930BA5E0C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7E510B1-302A-4279-BCAE-4502801CDD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D705F0F-B237-4179-9935-129E11803DE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418169A-DBD6-4FBA-829C-4DE911E3461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C1FEF2E-B973-42A9-B921-2718835F376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87CD69B3-4D7B-4D50-80E1-8A3BAC0EB8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149AA7D-7EFF-410A-A453-485B7E8D87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8D95ADFD-5275-408B-B1C5-A4961EB423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C1D29F-2A1D-4EDF-B6B0-521A834212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77609C5-B724-4BE6-998B-4AA32C3B99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D505869-C190-4835-B962-E05D3FC9F5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217DD24E-6A90-47BF-B02D-825D9B1865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091D910-6DB8-4229-8BB7-DD41AAD8A9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E734FA-C6A1-4E50-8D22-96CE0C0D8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25C3FE6-E60D-4FDE-8363-68D0A8A6A0A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7FB237-8CB8-4492-9051-AC48BD8C99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3DB2C14-4F15-4A25-80E2-DA5074B077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7B81321-730F-4C9B-AC6A-6385503B81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236C54D-D494-4ECA-B1CF-A2BB355DAD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2615848-D87E-4743-9DE6-10D4AA86FF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57F0105-0D89-400D-82D4-75C1128F7E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21582E-E4E8-483D-96BC-4A3981FADD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74C1DD0-2B46-4BCA-9BDE-234A31D6AFA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1DEBA31-FB70-4BE1-AB3B-94137662FC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32F0B2A-1264-4757-9E57-9739961FBA2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53CEC55-3FA5-4D33-AD9B-183C30162C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DA48747-A323-44F3-932C-E2BD8FCE29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B7A6F5-47A3-49B6-B6A3-5566669D61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C7B7A35-C7CE-4736-A21F-A90F5445FD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B79AB3-96FA-4115-932D-B1944CEE9D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B64F58F-3B8E-4068-8AD5-D46A390CB9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9DFE0D-AD9F-429E-8EBA-03F162448C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5D3F4B3-88CE-428A-8759-7062E79DE7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F32CB49-1BD1-4654-A064-7883E7B6AB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ADC136-F239-435C-8004-9D6C02BD64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8F64DC-1805-4C19-A602-2817A85149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11FC7A3-E723-4600-B6D7-9A585D1DD4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d4f008ccf04d72" /><Relationship Type="http://schemas.openxmlformats.org/officeDocument/2006/relationships/slideLayout" Target="/ppt/slideLayouts/slideLayout1.xml" Id="Rdce3ef8df31748f4" /><Relationship Type="http://schemas.openxmlformats.org/officeDocument/2006/relationships/slideLayout" Target="/ppt/slideLayouts/slideLayout2.xml" Id="R0505d1cf40a444b9" /><Relationship Type="http://schemas.openxmlformats.org/officeDocument/2006/relationships/slideLayout" Target="/ppt/slideLayouts/slideLayout3.xml" Id="R02af6837e06045a9" /><Relationship Type="http://schemas.openxmlformats.org/officeDocument/2006/relationships/slideLayout" Target="/ppt/slideLayouts/slideLayout4.xml" Id="R4376f5fbf93148cc" /><Relationship Type="http://schemas.openxmlformats.org/officeDocument/2006/relationships/slideLayout" Target="/ppt/slideLayouts/slideLayout5.xml" Id="R862fea96fc9647d0" /><Relationship Type="http://schemas.openxmlformats.org/officeDocument/2006/relationships/slideLayout" Target="/ppt/slideLayouts/slideLayout6.xml" Id="R5ef508cc5e8d4054" /><Relationship Type="http://schemas.openxmlformats.org/officeDocument/2006/relationships/slideLayout" Target="/ppt/slideLayouts/slideLayout7.xml" Id="R4d8a3833c59f4f29" /><Relationship Type="http://schemas.openxmlformats.org/officeDocument/2006/relationships/slideLayout" Target="/ppt/slideLayouts/slideLayout8.xml" Id="R25f268ce63cf49ea" /><Relationship Type="http://schemas.openxmlformats.org/officeDocument/2006/relationships/slideLayout" Target="/ppt/slideLayouts/slideLayout9.xml" Id="R537fda2e9670431a" /><Relationship Type="http://schemas.openxmlformats.org/officeDocument/2006/relationships/slideLayout" Target="/ppt/slideLayouts/slideLayout10.xml" Id="Ra0a6ed0e1026466a" /><Relationship Type="http://schemas.openxmlformats.org/officeDocument/2006/relationships/slideLayout" Target="/ppt/slideLayouts/slideLayout11.xml" Id="R7a23c04d4cd04a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58C7E0C9-0AE7-4727-8C83-09E1D8A064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56156D-BDB9-411E-8681-C02A8D87A4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77C4F3E-5D2B-4472-A5E0-D6F67478FE3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8/1/2011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A112BAD-4210-4161-A65A-90BB899E4DF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F652B5-55B0-4BBB-BC7D-FC1D2ABD8E8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3ef8df31748f4"/>
    <p:sldLayoutId xmlns:r="http://schemas.openxmlformats.org/officeDocument/2006/relationships" id="2147483650" r:id="R0505d1cf40a444b9"/>
    <p:sldLayoutId xmlns:r="http://schemas.openxmlformats.org/officeDocument/2006/relationships" id="2147483651" r:id="R02af6837e06045a9"/>
    <p:sldLayoutId xmlns:r="http://schemas.openxmlformats.org/officeDocument/2006/relationships" id="2147483652" r:id="R4376f5fbf93148cc"/>
    <p:sldLayoutId xmlns:r="http://schemas.openxmlformats.org/officeDocument/2006/relationships" id="2147483653" r:id="R862fea96fc9647d0"/>
    <p:sldLayoutId xmlns:r="http://schemas.openxmlformats.org/officeDocument/2006/relationships" id="2147483654" r:id="R5ef508cc5e8d4054"/>
    <p:sldLayoutId xmlns:r="http://schemas.openxmlformats.org/officeDocument/2006/relationships" id="2147483655" r:id="R4d8a3833c59f4f29"/>
    <p:sldLayoutId xmlns:r="http://schemas.openxmlformats.org/officeDocument/2006/relationships" id="2147483656" r:id="R25f268ce63cf49ea"/>
    <p:sldLayoutId xmlns:r="http://schemas.openxmlformats.org/officeDocument/2006/relationships" id="2147483657" r:id="R537fda2e9670431a"/>
    <p:sldLayoutId xmlns:r="http://schemas.openxmlformats.org/officeDocument/2006/relationships" id="2147483658" r:id="Ra0a6ed0e1026466a"/>
    <p:sldLayoutId xmlns:r="http://schemas.openxmlformats.org/officeDocument/2006/relationships" id="2147483659" r:id="R7a23c04d4cd04aa9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8e37c0d81e7402b" /><Relationship Type="http://schemas.openxmlformats.org/officeDocument/2006/relationships/image" Target="/ppt/media/image.png" Id="R2861a70a3df5467a" /><Relationship Type="http://schemas.openxmlformats.org/officeDocument/2006/relationships/image" Target="/ppt/media/image2.png" Id="Rde848a6eef404de0" /><Relationship Type="http://schemas.openxmlformats.org/officeDocument/2006/relationships/image" Target="/ppt/media/image3.png" Id="Rd0e04cd1e8554322" /><Relationship Type="http://schemas.openxmlformats.org/officeDocument/2006/relationships/notesSlide" Target="/ppt/notesSlides/notesSlide1.xml" Id="R03dc0ce358fa42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950c1284f746b7" /><Relationship Type="http://schemas.openxmlformats.org/officeDocument/2006/relationships/image" Target="/ppt/media/image4.png" Id="R33c7a633826f4cf2" /><Relationship Type="http://schemas.openxmlformats.org/officeDocument/2006/relationships/image" Target="/ppt/media/image2.png" Id="R59f31e52525449c2" /><Relationship Type="http://schemas.openxmlformats.org/officeDocument/2006/relationships/image" Target="/ppt/media/image5.png" Id="Ra5b38b9798994877" /><Relationship Type="http://schemas.openxmlformats.org/officeDocument/2006/relationships/notesSlide" Target="/ppt/notesSlides/notesSlide2.xml" Id="Rc585cd16805642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a609f8dd6a449d" /><Relationship Type="http://schemas.openxmlformats.org/officeDocument/2006/relationships/image" Target="/ppt/media/image3.png" Id="Re14278478c534334" /><Relationship Type="http://schemas.openxmlformats.org/officeDocument/2006/relationships/image" Target="/ppt/media/image2.png" Id="Ra9e7edab373d4151" /><Relationship Type="http://schemas.openxmlformats.org/officeDocument/2006/relationships/notesSlide" Target="/ppt/notesSlides/notesSlide3.xml" Id="R43b5f97536174a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19287f71a54f94" /><Relationship Type="http://schemas.openxmlformats.org/officeDocument/2006/relationships/image" Target="/ppt/media/image2.png" Id="R2059f10d22ca4270" /><Relationship Type="http://schemas.openxmlformats.org/officeDocument/2006/relationships/image" Target="/ppt/media/image.png" Id="Rae3ba14cf5384933" /><Relationship Type="http://schemas.openxmlformats.org/officeDocument/2006/relationships/image" Target="/ppt/media/image3.png" Id="R51f08b42a1bc4bc0" /><Relationship Type="http://schemas.openxmlformats.org/officeDocument/2006/relationships/notesSlide" Target="/ppt/notesSlides/notesSlide4.xml" Id="R633c8de50d1442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fdb98d0c884ffa" /><Relationship Type="http://schemas.openxmlformats.org/officeDocument/2006/relationships/image" Target="/ppt/media/image2.png" Id="R5c628e0fea26436e" /><Relationship Type="http://schemas.openxmlformats.org/officeDocument/2006/relationships/image" Target="/ppt/media/image.png" Id="Re66f2814824b4c43" /><Relationship Type="http://schemas.openxmlformats.org/officeDocument/2006/relationships/image" Target="/ppt/media/image3.png" Id="R5f96e7de3a4f40f4" /><Relationship Type="http://schemas.openxmlformats.org/officeDocument/2006/relationships/notesSlide" Target="/ppt/notesSlides/notesSlide5.xml" Id="R59e87f9fe5794d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df0f61a2c4543a6" /><Relationship Type="http://schemas.openxmlformats.org/officeDocument/2006/relationships/image" Target="/ppt/media/image3.png" Id="R5e56624af7c94df2" /><Relationship Type="http://schemas.openxmlformats.org/officeDocument/2006/relationships/image" Target="/ppt/media/image2.png" Id="R181bf5e12f2f441f" /><Relationship Type="http://schemas.openxmlformats.org/officeDocument/2006/relationships/notesSlide" Target="/ppt/notesSlides/notesSlide6.xml" Id="R5ce5cc47f53645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76fb2d09664cb5" /><Relationship Type="http://schemas.openxmlformats.org/officeDocument/2006/relationships/image" Target="/ppt/media/image2.png" Id="R97c34a3320eb4054" /><Relationship Type="http://schemas.openxmlformats.org/officeDocument/2006/relationships/image" Target="/ppt/media/image.png" Id="R59fed3f877d34a24" /><Relationship Type="http://schemas.openxmlformats.org/officeDocument/2006/relationships/image" Target="/ppt/media/image3.png" Id="R6fc4644220724744" /><Relationship Type="http://schemas.openxmlformats.org/officeDocument/2006/relationships/notesSlide" Target="/ppt/notesSlides/notesSlide7.xml" Id="R1b3851a4fe2246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2ff77473ff4d6b" /><Relationship Type="http://schemas.openxmlformats.org/officeDocument/2006/relationships/image" Target="/ppt/media/image2.png" Id="Rf276d33dc6c94ba9" /><Relationship Type="http://schemas.openxmlformats.org/officeDocument/2006/relationships/image" Target="/ppt/media/image3.png" Id="Red75bddbcd164993" /><Relationship Type="http://schemas.openxmlformats.org/officeDocument/2006/relationships/notesSlide" Target="/ppt/notesSlides/notesSlide8.xml" Id="Rb9d3310475a142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427e3bd9cd4c72" /><Relationship Type="http://schemas.openxmlformats.org/officeDocument/2006/relationships/image" Target="/ppt/media/image.png" Id="R9c2d585b1a8b4ff4" /><Relationship Type="http://schemas.openxmlformats.org/officeDocument/2006/relationships/image" Target="/ppt/media/image2.png" Id="Rc868db3155e74285" /><Relationship Type="http://schemas.openxmlformats.org/officeDocument/2006/relationships/image" Target="/ppt/media/image3.png" Id="R83160a33faef478d" /><Relationship Type="http://schemas.openxmlformats.org/officeDocument/2006/relationships/notesSlide" Target="/ppt/notesSlides/notesSlide9.xml" Id="R4634b52bb29145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ca6e13e8950412d" /><Relationship Type="http://schemas.openxmlformats.org/officeDocument/2006/relationships/notesSlide" Target="/ppt/notesSlides/notesSlide10.xml" Id="R9561c815ecbc4d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2ac96c80a0446ea" /><Relationship Type="http://schemas.openxmlformats.org/officeDocument/2006/relationships/notesSlide" Target="/ppt/notesSlides/notesSlide11.xml" Id="Rab26ad0404e244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4ff06fa5fb14dde" /><Relationship Type="http://schemas.openxmlformats.org/officeDocument/2006/relationships/image" Target="/ppt/media/image2.png" Id="R4108959c8a83446d" /><Relationship Type="http://schemas.openxmlformats.org/officeDocument/2006/relationships/image" Target="/ppt/media/image3.png" Id="R190a4d4df9804efa" /><Relationship Type="http://schemas.openxmlformats.org/officeDocument/2006/relationships/image" Target="/ppt/media/image.png" Id="R1314f299fdd24474" /><Relationship Type="http://schemas.openxmlformats.org/officeDocument/2006/relationships/notesSlide" Target="/ppt/notesSlides/notesSlide12.xml" Id="R0b19bf6f953641b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0435298bd52481f" /><Relationship Type="http://schemas.openxmlformats.org/officeDocument/2006/relationships/notesSlide" Target="/ppt/notesSlides/notesSlide13.xml" Id="R75b42a693480468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0009359ba4499a" /><Relationship Type="http://schemas.openxmlformats.org/officeDocument/2006/relationships/image" Target="/ppt/media/image.png" Id="R7d37feb3128c4b04" /><Relationship Type="http://schemas.openxmlformats.org/officeDocument/2006/relationships/image" Target="/ppt/media/image2.png" Id="Rc418c5721f0e4d41" /><Relationship Type="http://schemas.openxmlformats.org/officeDocument/2006/relationships/image" Target="/ppt/media/image3.png" Id="R52ff5cea41884c0d" /><Relationship Type="http://schemas.openxmlformats.org/officeDocument/2006/relationships/notesSlide" Target="/ppt/notesSlides/notesSlide14.xml" Id="Rca1b9a1916c4460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65ddc1d3f3d47f2" /><Relationship Type="http://schemas.openxmlformats.org/officeDocument/2006/relationships/image" Target="/ppt/media/image2.png" Id="R828944458e0b4815" /><Relationship Type="http://schemas.openxmlformats.org/officeDocument/2006/relationships/image" Target="/ppt/media/image3.png" Id="Rd77fa2e1db59483a" /><Relationship Type="http://schemas.openxmlformats.org/officeDocument/2006/relationships/image" Target="/ppt/media/image.png" Id="Rcfa4b42ddd3347b1" /><Relationship Type="http://schemas.openxmlformats.org/officeDocument/2006/relationships/image" Target="/ppt/media/image5.png" Id="R87fec6f9c44547f1" /><Relationship Type="http://schemas.openxmlformats.org/officeDocument/2006/relationships/notesSlide" Target="/ppt/notesSlides/notesSlide15.xml" Id="R1dbd8f802f8f457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A62A1274-78D0-4DC7-8A96-3DE0833F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8455310"/>
            <a:ext cx="7124397" cy="8534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720"/>
              </a:lnSpc>
              <a:spcBef>
                <a:spcPct val="0"/>
              </a:spcBef>
              <a:buNone/>
            </a:pPr>
            <a:r>
              <a:rPr sz="4800" i="1">
                <a:solidFill>
                  <a:srgbClr val="731F7D"/>
                </a:solidFill>
                <a:latin typeface="Vollkorn Italics"/>
                <a:ea typeface="Vollkorn Italics"/>
                <a:cs typeface="Vollkorn Italics"/>
              </a:rPr>
              <a:t>Проект EGIN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24D63BE7-5B26-4F06-9617-230A8FB4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4963249"/>
            <a:ext cx="10724012" cy="1498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11797"/>
              </a:lnSpc>
              <a:buNone/>
            </a:pPr>
            <a:r>
              <a:rPr sz="9998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</a:rPr>
              <a:t>АГРО-РОБОТ EGIN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A9402A0-2BB5-4036-86C0-2145FDBE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24184" flipH="0" flipV="0">
            <a:off x="9190413" y="-1204481"/>
            <a:ext cx="9054625" cy="8058616"/>
          </a:xfrm>
          <a:custGeom xmlns:a="http://schemas.openxmlformats.org/drawingml/2006/main">
            <a:rect l="l" t="t" r="r" b="b"/>
            <a:pathLst>
              <a:path w="9054625" h="8058616">
                <a:moveTo>
                  <a:pt x="0" y="0"/>
                </a:moveTo>
                <a:lnTo>
                  <a:pt x="9054625" y="0"/>
                </a:lnTo>
                <a:lnTo>
                  <a:pt x="9054625" y="8058616"/>
                </a:lnTo>
                <a:lnTo>
                  <a:pt x="0" y="80586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861a70a3df5467a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BEC35FBE-1D27-48E7-A555-D9579590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017281" flipH="0" flipV="0">
            <a:off x="7304671" y="971407"/>
            <a:ext cx="1811240" cy="1716150"/>
          </a:xfrm>
          <a:custGeom xmlns:a="http://schemas.openxmlformats.org/drawingml/2006/main">
            <a:rect l="l" t="t" r="r" b="b"/>
            <a:pathLst>
              <a:path w="1811240" h="1716150">
                <a:moveTo>
                  <a:pt x="0" y="0"/>
                </a:moveTo>
                <a:lnTo>
                  <a:pt x="1811240" y="0"/>
                </a:lnTo>
                <a:lnTo>
                  <a:pt x="1811240" y="1716150"/>
                </a:lnTo>
                <a:lnTo>
                  <a:pt x="0" y="17161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e848a6eef404de0"/>
            <a:stretch>
              <a:fillRect l="0" t="0" r="0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9052089-92F6-490B-8491-06FE51EC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67437" flipH="0" flipV="0">
            <a:off x="16126494" y="6825098"/>
            <a:ext cx="3789612" cy="3623816"/>
          </a:xfrm>
          <a:custGeom xmlns:a="http://schemas.openxmlformats.org/drawingml/2006/main">
            <a:rect l="l" t="t" r="r" b="b"/>
            <a:pathLst>
              <a:path w="3789612" h="3623816">
                <a:moveTo>
                  <a:pt x="0" y="0"/>
                </a:moveTo>
                <a:lnTo>
                  <a:pt x="3789612" y="0"/>
                </a:lnTo>
                <a:lnTo>
                  <a:pt x="3789612" y="3623816"/>
                </a:lnTo>
                <a:lnTo>
                  <a:pt x="0" y="36238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0e04cd1e8554322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282162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4D13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4E2E87FA-492B-49BA-B09A-4F9C1AEE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98824" flipH="0" flipV="0">
            <a:off x="12555249" y="4939834"/>
            <a:ext cx="6575294" cy="7268784"/>
          </a:xfrm>
          <a:custGeom xmlns:a="http://schemas.openxmlformats.org/drawingml/2006/main">
            <a:rect l="l" t="t" r="r" b="b"/>
            <a:pathLst>
              <a:path w="6575294" h="7268784">
                <a:moveTo>
                  <a:pt x="0" y="0"/>
                </a:moveTo>
                <a:lnTo>
                  <a:pt x="6575295" y="0"/>
                </a:lnTo>
                <a:lnTo>
                  <a:pt x="6575295" y="7268784"/>
                </a:lnTo>
                <a:lnTo>
                  <a:pt x="0" y="72687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3c7a633826f4cf2"/>
            <a:stretch>
              <a:fillRect l="0" t="0" r="-381" b="-1174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B40C74E-B974-4E0A-A5E5-DFC0F514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15964" flipH="0" flipV="0">
            <a:off x="8597713" y="7771526"/>
            <a:ext cx="1844500" cy="1747664"/>
          </a:xfrm>
          <a:custGeom xmlns:a="http://schemas.openxmlformats.org/drawingml/2006/main">
            <a:rect l="l" t="t" r="r" b="b"/>
            <a:pathLst>
              <a:path w="1844500" h="1747664">
                <a:moveTo>
                  <a:pt x="0" y="0"/>
                </a:moveTo>
                <a:lnTo>
                  <a:pt x="1844500" y="0"/>
                </a:lnTo>
                <a:lnTo>
                  <a:pt x="1844500" y="1747664"/>
                </a:lnTo>
                <a:lnTo>
                  <a:pt x="0" y="174766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f31e52525449c2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D251CFF2-C1BE-447F-911B-D7ED34DA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378125" flipH="0" flipV="0">
            <a:off x="12070219" y="-1362141"/>
            <a:ext cx="4943405" cy="5723190"/>
          </a:xfrm>
          <a:custGeom xmlns:a="http://schemas.openxmlformats.org/drawingml/2006/main">
            <a:rect l="l" t="t" r="r" b="b"/>
            <a:pathLst>
              <a:path w="4943405" h="5723190">
                <a:moveTo>
                  <a:pt x="0" y="0"/>
                </a:moveTo>
                <a:lnTo>
                  <a:pt x="4943405" y="0"/>
                </a:lnTo>
                <a:lnTo>
                  <a:pt x="4943405" y="5723190"/>
                </a:lnTo>
                <a:lnTo>
                  <a:pt x="0" y="57231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5b38b9798994877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325DC52B-5C78-4D8F-A81A-666EC10D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3454308"/>
            <a:ext cx="8934485" cy="1145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018"/>
              </a:lnSpc>
              <a:buNone/>
            </a:pPr>
            <a:r>
              <a:rPr sz="7642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</a:rPr>
              <a:t>Абай Тлеугалиев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D5708BE-6988-4F8C-9B3A-078A63A8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1771972"/>
            <a:ext cx="1885905" cy="1004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7910"/>
              </a:lnSpc>
              <a:spcBef>
                <a:spcPct val="0"/>
              </a:spcBef>
              <a:buNone/>
            </a:pPr>
            <a:r>
              <a:rPr sz="6703" b="1" u="none">
                <a:solidFill>
                  <a:srgbClr val="FFFFFF">
                    <a:alpha val="60000"/>
                  </a:srgbClr>
                </a:solidFill>
                <a:latin typeface="HK Grotesk Bold"/>
                <a:ea typeface="HK Grotesk Bold"/>
                <a:cs typeface="HK Grotesk Bold"/>
              </a:rPr>
              <a:t>01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CC371E3E-8466-45ED-BD22-D97B677C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7163527"/>
            <a:ext cx="5653813" cy="9067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0"/>
              </a:lnSpc>
              <a:spcBef>
                <a:spcPct val="0"/>
              </a:spcBef>
              <a:buNone/>
            </a:pPr>
            <a:r>
              <a:rPr sz="1700" spc="-17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Astana IT University • JanaBales</a:t>
            </a:r>
          </a:p>
          <a:p xmlns:a="http://schemas.openxmlformats.org/drawingml/2006/main">
            <a:pPr algn="l">
              <a:lnSpc>
                <a:spcPts val="2380"/>
              </a:lnSpc>
              <a:spcBef>
                <a:spcPct val="0"/>
              </a:spcBef>
              <a:buNone/>
            </a:pPr>
            <a:r>
              <a:rPr sz="1700" spc="-17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Проект робототехники и агротехнологий для теплиц Акмолинской области.</a:t>
            </a:r>
          </a:p>
        </p:txBody>
      </p:sp>
    </p:spTree>
    <p:extLst>
      <p:ext uri="{BB962C8B-B14F-4D97-AF65-F5344CB8AC3E}">
        <p14:creationId xmlns:p14="http://schemas.microsoft.com/office/powerpoint/2010/main" val="6788428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08FA2993-4715-43F2-A8D0-2E58397E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99663" flipH="0" flipV="0">
            <a:off x="4111359" y="-3364814"/>
            <a:ext cx="9366851" cy="8957051"/>
          </a:xfrm>
          <a:custGeom xmlns:a="http://schemas.openxmlformats.org/drawingml/2006/main">
            <a:rect l="l" t="t" r="r" b="b"/>
            <a:pathLst>
              <a:path w="9366851" h="8957051">
                <a:moveTo>
                  <a:pt x="0" y="0"/>
                </a:moveTo>
                <a:lnTo>
                  <a:pt x="9366851" y="0"/>
                </a:lnTo>
                <a:lnTo>
                  <a:pt x="9366851" y="8957051"/>
                </a:lnTo>
                <a:lnTo>
                  <a:pt x="0" y="895705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14278478c534334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CDB093D-3F21-469C-ABB9-918447BB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715964" flipH="0" flipV="0">
            <a:off x="14635296" y="2779072"/>
            <a:ext cx="2207918" cy="2092002"/>
          </a:xfrm>
          <a:custGeom xmlns:a="http://schemas.openxmlformats.org/drawingml/2006/main">
            <a:rect l="l" t="t" r="r" b="b"/>
            <a:pathLst>
              <a:path w="2207918" h="2092002">
                <a:moveTo>
                  <a:pt x="0" y="0"/>
                </a:moveTo>
                <a:lnTo>
                  <a:pt x="2207918" y="0"/>
                </a:lnTo>
                <a:lnTo>
                  <a:pt x="2207918" y="2092003"/>
                </a:lnTo>
                <a:lnTo>
                  <a:pt x="0" y="209200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e7edab373d4151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80226A7-8989-4CE3-BE16-03222BD0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94911" flipH="0" flipV="0">
            <a:off x="16125490" y="7311630"/>
            <a:ext cx="5163362" cy="4892285"/>
          </a:xfrm>
          <a:custGeom xmlns:a="http://schemas.openxmlformats.org/drawingml/2006/main">
            <a:rect l="l" t="t" r="r" b="b"/>
            <a:pathLst>
              <a:path w="5163362" h="4892285">
                <a:moveTo>
                  <a:pt x="0" y="0"/>
                </a:moveTo>
                <a:lnTo>
                  <a:pt x="5163361" y="0"/>
                </a:lnTo>
                <a:lnTo>
                  <a:pt x="5163361" y="4892285"/>
                </a:lnTo>
                <a:lnTo>
                  <a:pt x="0" y="489228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9e7edab373d4151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29F9428-9363-459E-BD69-66CE9138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6941641"/>
            <a:ext cx="10237362" cy="7702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065"/>
              </a:lnSpc>
              <a:buNone/>
            </a:pPr>
            <a:r>
              <a:rPr sz="5140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</a:rPr>
              <a:t>Рутина отнимает время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73ACEAB9-699F-4CCF-A951-3CD8AAE2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5808817"/>
            <a:ext cx="7278782" cy="6720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5292"/>
              </a:lnSpc>
              <a:spcBef>
                <a:spcPct val="0"/>
              </a:spcBef>
              <a:buNone/>
            </a:pPr>
            <a:r>
              <a:rPr sz="3780" i="1" u="none">
                <a:solidFill>
                  <a:srgbClr val="731F7D"/>
                </a:solidFill>
                <a:latin typeface="Vollkorn Italics"/>
                <a:ea typeface="Vollkorn Italics"/>
                <a:cs typeface="Vollkorn Italics"/>
              </a:rPr>
              <a:t>15–25 часов в неделю*</a:t>
            </a:r>
          </a:p>
        </p:txBody>
      </p:sp>
    </p:spTree>
    <p:extLst>
      <p:ext uri="{BB962C8B-B14F-4D97-AF65-F5344CB8AC3E}">
        <p14:creationId xmlns:p14="http://schemas.microsoft.com/office/powerpoint/2010/main" val="7134338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4D13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23D494C-4B1C-4BC4-9F4D-435FEC48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94633" flipH="0" flipV="0">
            <a:off x="737717" y="7024205"/>
            <a:ext cx="2605188" cy="2468415"/>
          </a:xfrm>
          <a:custGeom xmlns:a="http://schemas.openxmlformats.org/drawingml/2006/main">
            <a:rect l="l" t="t" r="r" b="b"/>
            <a:pathLst>
              <a:path w="2605188" h="2468415">
                <a:moveTo>
                  <a:pt x="0" y="0"/>
                </a:moveTo>
                <a:lnTo>
                  <a:pt x="2605187" y="0"/>
                </a:lnTo>
                <a:lnTo>
                  <a:pt x="2605187" y="2468415"/>
                </a:lnTo>
                <a:lnTo>
                  <a:pt x="0" y="24684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59f10d22ca4270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264364E4-7E83-4233-A10E-C0503F13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213644" y="-550315"/>
            <a:ext cx="5225712" cy="4650884"/>
          </a:xfrm>
          <a:custGeom xmlns:a="http://schemas.openxmlformats.org/drawingml/2006/main">
            <a:rect l="l" t="t" r="r" b="b"/>
            <a:pathLst>
              <a:path w="5225712" h="4650884">
                <a:moveTo>
                  <a:pt x="0" y="0"/>
                </a:moveTo>
                <a:lnTo>
                  <a:pt x="5225712" y="0"/>
                </a:lnTo>
                <a:lnTo>
                  <a:pt x="5225712" y="4650884"/>
                </a:lnTo>
                <a:lnTo>
                  <a:pt x="0" y="465088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3ba14cf5384933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9771C3A2-2B28-490C-97CE-780FC697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3119" flipH="0" flipV="0">
            <a:off x="3291026" y="3087831"/>
            <a:ext cx="5693252" cy="5444172"/>
          </a:xfrm>
          <a:custGeom xmlns:a="http://schemas.openxmlformats.org/drawingml/2006/main">
            <a:rect l="l" t="t" r="r" b="b"/>
            <a:pathLst>
              <a:path w="5693252" h="5444172">
                <a:moveTo>
                  <a:pt x="0" y="0"/>
                </a:moveTo>
                <a:lnTo>
                  <a:pt x="5693252" y="0"/>
                </a:lnTo>
                <a:lnTo>
                  <a:pt x="5693252" y="5444173"/>
                </a:lnTo>
                <a:lnTo>
                  <a:pt x="0" y="544417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f08b42a1bc4bc0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37D276B-5C02-475D-A122-0480EAEA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9815" y="5696955"/>
            <a:ext cx="7029485" cy="930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7330"/>
              </a:lnSpc>
              <a:buNone/>
            </a:pPr>
            <a:r>
              <a:rPr sz="6212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</a:rPr>
              <a:t>Робот EGIN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6CE4BA6-453C-4D9D-BFF8-DD106D50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85030" y="1038225"/>
            <a:ext cx="1483795" cy="1004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r">
              <a:lnSpc>
                <a:spcPts val="7910"/>
              </a:lnSpc>
              <a:spcBef>
                <a:spcPct val="0"/>
              </a:spcBef>
              <a:buNone/>
            </a:pPr>
            <a:r>
              <a:rPr sz="6703" b="1" u="none">
                <a:solidFill>
                  <a:srgbClr val="FFFFFF">
                    <a:alpha val="60000"/>
                  </a:srgbClr>
                </a:solidFill>
                <a:latin typeface="HK Grotesk Bold"/>
                <a:ea typeface="HK Grotesk Bold"/>
                <a:cs typeface="HK Grotesk Bold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745060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4D13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DE635F4-D539-41EB-ACB5-558CCB55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6123" y="1355511"/>
            <a:ext cx="7995755" cy="7575978"/>
          </a:xfrm>
          <a:custGeom xmlns:a="http://schemas.openxmlformats.org/drawingml/2006/main">
            <a:rect l="l" t="t" r="r" b="b"/>
            <a:pathLst>
              <a:path w="7995755" h="7575978">
                <a:moveTo>
                  <a:pt x="0" y="0"/>
                </a:moveTo>
                <a:lnTo>
                  <a:pt x="7995754" y="0"/>
                </a:lnTo>
                <a:lnTo>
                  <a:pt x="7995754" y="7575978"/>
                </a:lnTo>
                <a:lnTo>
                  <a:pt x="0" y="75759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c628e0fea26436e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F9938B6-DF2B-4F6B-9DD0-A1136C90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033790" flipH="0" flipV="0">
            <a:off x="-3142758" y="5113384"/>
            <a:ext cx="7336933" cy="6529870"/>
          </a:xfrm>
          <a:custGeom xmlns:a="http://schemas.openxmlformats.org/drawingml/2006/main">
            <a:rect l="l" t="t" r="r" b="b"/>
            <a:pathLst>
              <a:path w="7336933" h="6529870">
                <a:moveTo>
                  <a:pt x="0" y="0"/>
                </a:moveTo>
                <a:lnTo>
                  <a:pt x="7336932" y="0"/>
                </a:lnTo>
                <a:lnTo>
                  <a:pt x="7336932" y="6529871"/>
                </a:lnTo>
                <a:lnTo>
                  <a:pt x="0" y="652987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66f2814824b4c43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7872CAD-2217-47C4-B40E-CB12FEB2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61293" y="4703937"/>
            <a:ext cx="10565414" cy="88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54"/>
              </a:lnSpc>
              <a:buNone/>
            </a:pPr>
            <a:r>
              <a:rPr sz="589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</a:rPr>
              <a:t>Помощник для теплицы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8EDCEDB-C7E5-45F2-85A6-3FE68039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7366" flipH="0" flipV="0">
            <a:off x="12955621" y="-916530"/>
            <a:ext cx="4068454" cy="3890459"/>
          </a:xfrm>
          <a:custGeom xmlns:a="http://schemas.openxmlformats.org/drawingml/2006/main">
            <a:rect l="l" t="t" r="r" b="b"/>
            <a:pathLst>
              <a:path w="4068454" h="3890459">
                <a:moveTo>
                  <a:pt x="0" y="0"/>
                </a:moveTo>
                <a:lnTo>
                  <a:pt x="4068454" y="0"/>
                </a:lnTo>
                <a:lnTo>
                  <a:pt x="4068454" y="3890460"/>
                </a:lnTo>
                <a:lnTo>
                  <a:pt x="0" y="389046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96e7de3a4f40f4"/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41B06637-D8CD-4FE7-B45A-A2BD7EF0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7366" flipH="0" flipV="0">
            <a:off x="17494525" y="9179016"/>
            <a:ext cx="4068454" cy="3890459"/>
          </a:xfrm>
          <a:custGeom xmlns:a="http://schemas.openxmlformats.org/drawingml/2006/main">
            <a:rect l="l" t="t" r="r" b="b"/>
            <a:pathLst>
              <a:path w="4068454" h="3890459">
                <a:moveTo>
                  <a:pt x="0" y="0"/>
                </a:moveTo>
                <a:lnTo>
                  <a:pt x="4068454" y="0"/>
                </a:lnTo>
                <a:lnTo>
                  <a:pt x="4068454" y="3890459"/>
                </a:lnTo>
                <a:lnTo>
                  <a:pt x="0" y="38904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f96e7de3a4f40f4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65132119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25808808-19F0-4F97-8A9E-DC85E3C1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2115832"/>
            <a:ext cx="7726964" cy="750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911"/>
              </a:lnSpc>
              <a:buNone/>
            </a:pPr>
            <a:r>
              <a:rPr sz="5009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</a:rPr>
              <a:t>Задачи робота</a:t>
            </a:r>
          </a:p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BA73459B-A695-441C-B439-8DD801AD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094169" flipH="0" flipV="0">
            <a:off x="-2768217" y="5870308"/>
            <a:ext cx="6176663" cy="5906434"/>
          </a:xfrm>
          <a:custGeom xmlns:a="http://schemas.openxmlformats.org/drawingml/2006/main">
            <a:rect l="l" t="t" r="r" b="b"/>
            <a:pathLst>
              <a:path w="6176663" h="5906434">
                <a:moveTo>
                  <a:pt x="0" y="0"/>
                </a:moveTo>
                <a:lnTo>
                  <a:pt x="6176663" y="0"/>
                </a:lnTo>
                <a:lnTo>
                  <a:pt x="6176663" y="5906433"/>
                </a:lnTo>
                <a:lnTo>
                  <a:pt x="0" y="59064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e56624af7c94df2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1EF9363F-ECBE-4225-B79E-9319D41A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800" y="3988373"/>
            <a:ext cx="3787282" cy="7089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582"/>
              </a:lnSpc>
              <a:buNone/>
            </a:pPr>
            <a:r>
              <a:rPr sz="4294" i="1">
                <a:solidFill>
                  <a:srgbClr val="731F7D"/>
                </a:solidFill>
                <a:latin typeface="Vollkorn Italics"/>
                <a:ea typeface="Vollkorn Italics"/>
                <a:cs typeface="Vollkorn Italics"/>
              </a:rPr>
              <a:t>Точечный полив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DCCB6FB-C73A-4D82-A6E0-3A69BC47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733800" y="5689655"/>
            <a:ext cx="3787282" cy="5900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23"/>
              </a:lnSpc>
              <a:spcBef>
                <a:spcPct val="0"/>
              </a:spcBef>
              <a:buNone/>
            </a:pPr>
            <a:r>
              <a:rPr sz="1659" spc="-16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Подача воды и жидкой подкормки к растениям.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3832B10-3D03-4811-836D-9E7442A8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2909" y="3988373"/>
            <a:ext cx="3787282" cy="7089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5582"/>
              </a:lnSpc>
              <a:spcBef>
                <a:spcPct val="0"/>
              </a:spcBef>
              <a:buNone/>
            </a:pPr>
            <a:r>
              <a:rPr sz="4294" i="1" u="none">
                <a:solidFill>
                  <a:srgbClr val="731F7D"/>
                </a:solidFill>
                <a:latin typeface="Vollkorn Italics"/>
                <a:ea typeface="Vollkorn Italics"/>
                <a:cs typeface="Vollkorn Italics"/>
              </a:rPr>
              <a:t>Мониторинг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0D70EA6E-683D-43FD-9125-BD48B27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2909" y="5682511"/>
            <a:ext cx="3787282" cy="6885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1"/>
              </a:lnSpc>
              <a:spcBef>
                <a:spcPct val="0"/>
              </a:spcBef>
              <a:buNone/>
            </a:pPr>
            <a:r>
              <a:rPr sz="1936" spc="-19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Наблюдение за состоянием культур и грядок.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172FF619-14B0-4C35-AD9F-CFCB7407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72018" y="3988373"/>
            <a:ext cx="3787282" cy="14178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5582"/>
              </a:lnSpc>
              <a:spcBef>
                <a:spcPct val="0"/>
              </a:spcBef>
              <a:buNone/>
            </a:pPr>
            <a:r>
              <a:rPr sz="4294" i="1" u="none">
                <a:solidFill>
                  <a:srgbClr val="731F7D"/>
                </a:solidFill>
                <a:latin typeface="Vollkorn Italics"/>
                <a:ea typeface="Vollkorn Italics"/>
                <a:cs typeface="Vollkorn Italics"/>
              </a:rPr>
              <a:t>Перенос урожая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8958D979-96B6-4865-BAF7-9136F0C7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472018" y="5689655"/>
            <a:ext cx="3787282" cy="623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53"/>
              </a:lnSpc>
              <a:spcBef>
                <a:spcPct val="0"/>
              </a:spcBef>
              <a:buNone/>
            </a:pPr>
            <a:r>
              <a:rPr sz="1752" spc="-17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Модульная корзина Follow-Me — концепция проекта.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CCC5AD7-C36B-4BCC-921F-5A6E6DAB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40951" flipH="0" flipV="0">
            <a:off x="-957979" y="335262"/>
            <a:ext cx="2207918" cy="2092002"/>
          </a:xfrm>
          <a:custGeom xmlns:a="http://schemas.openxmlformats.org/drawingml/2006/main">
            <a:rect l="l" t="t" r="r" b="b"/>
            <a:pathLst>
              <a:path w="2207918" h="2092002">
                <a:moveTo>
                  <a:pt x="0" y="0"/>
                </a:moveTo>
                <a:lnTo>
                  <a:pt x="2207919" y="0"/>
                </a:lnTo>
                <a:lnTo>
                  <a:pt x="2207919" y="2092002"/>
                </a:lnTo>
                <a:lnTo>
                  <a:pt x="0" y="20920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81bf5e12f2f441f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8953443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4D13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8F71FB9-03AB-49A3-9F7B-BD06011A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46566" y="7171898"/>
            <a:ext cx="2729129" cy="2585849"/>
          </a:xfrm>
          <a:custGeom xmlns:a="http://schemas.openxmlformats.org/drawingml/2006/main">
            <a:rect l="l" t="t" r="r" b="b"/>
            <a:pathLst>
              <a:path w="2729129" h="2585849">
                <a:moveTo>
                  <a:pt x="0" y="0"/>
                </a:moveTo>
                <a:lnTo>
                  <a:pt x="2729129" y="0"/>
                </a:lnTo>
                <a:lnTo>
                  <a:pt x="2729129" y="2585849"/>
                </a:lnTo>
                <a:lnTo>
                  <a:pt x="0" y="258584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7c34a3320eb4054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18A83C1-2F44-4BE8-BA33-265D4E1C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185645" flipH="0" flipV="0">
            <a:off x="-1867548" y="60686"/>
            <a:ext cx="9901401" cy="8812247"/>
          </a:xfrm>
          <a:custGeom xmlns:a="http://schemas.openxmlformats.org/drawingml/2006/main">
            <a:rect l="l" t="t" r="r" b="b"/>
            <a:pathLst>
              <a:path w="9901401" h="8812247">
                <a:moveTo>
                  <a:pt x="0" y="0"/>
                </a:moveTo>
                <a:lnTo>
                  <a:pt x="9901401" y="0"/>
                </a:lnTo>
                <a:lnTo>
                  <a:pt x="9901401" y="8812247"/>
                </a:lnTo>
                <a:lnTo>
                  <a:pt x="0" y="881224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fed3f877d34a24"/>
            <a:stretch>
              <a:fillRect l="0" t="0" r="0" b="0"/>
            </a:stretch>
          </a:blipFill>
        </p:spPr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431A3A90-EC5E-46F1-8B04-8744B54B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3878" y="3619506"/>
            <a:ext cx="5307614" cy="7506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911"/>
              </a:lnSpc>
              <a:buNone/>
            </a:pPr>
            <a:r>
              <a:rPr sz="500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</a:rPr>
              <a:t>ИИ-агроном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1B80A0B-3EB1-4FCB-B1D7-8D7823EE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47366" flipH="0" flipV="0">
            <a:off x="7083089" y="303005"/>
            <a:ext cx="1517793" cy="1451390"/>
          </a:xfrm>
          <a:custGeom xmlns:a="http://schemas.openxmlformats.org/drawingml/2006/main">
            <a:rect l="l" t="t" r="r" b="b"/>
            <a:pathLst>
              <a:path w="1517793" h="1451390">
                <a:moveTo>
                  <a:pt x="0" y="0"/>
                </a:moveTo>
                <a:lnTo>
                  <a:pt x="1517794" y="0"/>
                </a:lnTo>
                <a:lnTo>
                  <a:pt x="1517794" y="1451390"/>
                </a:lnTo>
                <a:lnTo>
                  <a:pt x="0" y="145139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fc4644220724744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4C98940A-7AD2-4141-A8D8-5BF3CB8C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23740" y="2641262"/>
            <a:ext cx="4530710" cy="10340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4"/>
              </a:lnSpc>
              <a:spcBef>
                <a:spcPct val="0"/>
              </a:spcBef>
              <a:buNone/>
            </a:pPr>
            <a:r>
              <a:rPr sz="1938" spc="-19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ИИ-чат отвечает на вопросы по уходу за растениями. Рекомендации требуют проверки специалистом.</a:t>
            </a:r>
          </a:p>
        </p:txBody>
      </p:sp>
    </p:spTree>
    <p:extLst>
      <p:ext uri="{BB962C8B-B14F-4D97-AF65-F5344CB8AC3E}">
        <p14:creationId xmlns:p14="http://schemas.microsoft.com/office/powerpoint/2010/main" val="14815178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C00636A6-FEF9-495A-A762-1C3EC256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94633" flipH="0" flipV="0">
            <a:off x="-2022061" y="8242530"/>
            <a:ext cx="4315504" cy="4088940"/>
          </a:xfrm>
          <a:custGeom xmlns:a="http://schemas.openxmlformats.org/drawingml/2006/main">
            <a:rect l="l" t="t" r="r" b="b"/>
            <a:pathLst>
              <a:path w="4315504" h="4088940">
                <a:moveTo>
                  <a:pt x="0" y="0"/>
                </a:moveTo>
                <a:lnTo>
                  <a:pt x="4315504" y="0"/>
                </a:lnTo>
                <a:lnTo>
                  <a:pt x="4315504" y="4088940"/>
                </a:lnTo>
                <a:lnTo>
                  <a:pt x="0" y="408894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276d33dc6c94ba9"/>
            <a:stretch>
              <a:fillRect l="0" t="0" r="0" b="0"/>
            </a:stretch>
          </a:blipFill>
        </p:spPr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733A9CA6-ED37-41C0-A1F5-700E0A73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9718" y="2385067"/>
            <a:ext cx="12908564" cy="9273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7302"/>
              </a:lnSpc>
              <a:buNone/>
            </a:pPr>
            <a:r>
              <a:rPr sz="6188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</a:rPr>
              <a:t>ИИ-зрение и AR-разметка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34BAE52-DF57-44FD-9A85-AF3A72EF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00935" y="4534597"/>
            <a:ext cx="3818865" cy="68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375"/>
              </a:lnSpc>
              <a:buNone/>
            </a:pPr>
            <a:r>
              <a:rPr sz="4135" i="1">
                <a:solidFill>
                  <a:srgbClr val="731F7D"/>
                </a:solidFill>
                <a:latin typeface="Vollkorn Italics"/>
                <a:ea typeface="Vollkorn Italics"/>
                <a:cs typeface="Vollkorn Italics"/>
              </a:rPr>
              <a:t>Камера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CFCBBC6-EAC9-4DD7-A2A2-A16907B5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00935" y="6173279"/>
            <a:ext cx="3818865" cy="3157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486"/>
              </a:lnSpc>
              <a:spcBef>
                <a:spcPct val="0"/>
              </a:spcBef>
              <a:buNone/>
            </a:pPr>
            <a:r>
              <a:rPr sz="1775" spc="-17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Наблюдение за культурами.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3094AB3-8850-4E4F-BB9B-26B1C03C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4568" y="4534597"/>
            <a:ext cx="3818865" cy="68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5375"/>
              </a:lnSpc>
              <a:spcBef>
                <a:spcPct val="0"/>
              </a:spcBef>
              <a:buNone/>
            </a:pPr>
            <a:r>
              <a:rPr sz="4135" i="1" u="none">
                <a:solidFill>
                  <a:srgbClr val="731F7D"/>
                </a:solidFill>
                <a:latin typeface="Vollkorn Italics"/>
                <a:ea typeface="Vollkorn Italics"/>
                <a:cs typeface="Vollkorn Italics"/>
              </a:rPr>
              <a:t>AR-разметка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CDB08547-ECBD-4EC0-A241-6E434766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34568" y="6173279"/>
            <a:ext cx="3818865" cy="5999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362"/>
              </a:lnSpc>
              <a:spcBef>
                <a:spcPct val="0"/>
              </a:spcBef>
              <a:buNone/>
            </a:pPr>
            <a:r>
              <a:rPr sz="1687" spc="-16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Карта грядок и ориентиры для работы.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353A8976-ABC9-4F02-940D-A34095176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8200" y="4534597"/>
            <a:ext cx="3818865" cy="68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ts val="5375"/>
              </a:lnSpc>
              <a:spcBef>
                <a:spcPct val="0"/>
              </a:spcBef>
              <a:buNone/>
            </a:pPr>
            <a:r>
              <a:rPr sz="4135" i="1" u="none">
                <a:solidFill>
                  <a:srgbClr val="731F7D"/>
                </a:solidFill>
                <a:latin typeface="Vollkorn Italics"/>
                <a:ea typeface="Vollkorn Italics"/>
                <a:cs typeface="Vollkorn Italics"/>
              </a:rPr>
              <a:t>Диагностика</a:t>
            </a:r>
          </a:p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2404A6FF-F9AA-4964-B001-99976E24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68200" y="6166135"/>
            <a:ext cx="3818865" cy="108927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59"/>
              </a:lnSpc>
              <a:spcBef>
                <a:spcPct val="0"/>
              </a:spcBef>
              <a:buNone/>
            </a:pPr>
            <a:r>
              <a:rPr sz="2042" spc="-2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Подсказки по симптомам растений — проектная функция.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D90A02F2-C0C3-42DE-B7A3-64C97858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3119" flipH="0" flipV="0">
            <a:off x="15158388" y="-1579634"/>
            <a:ext cx="5214256" cy="4986132"/>
          </a:xfrm>
          <a:custGeom xmlns:a="http://schemas.openxmlformats.org/drawingml/2006/main">
            <a:rect l="l" t="t" r="r" b="b"/>
            <a:pathLst>
              <a:path w="5214256" h="4986132">
                <a:moveTo>
                  <a:pt x="0" y="0"/>
                </a:moveTo>
                <a:lnTo>
                  <a:pt x="5214256" y="0"/>
                </a:lnTo>
                <a:lnTo>
                  <a:pt x="5214256" y="4986132"/>
                </a:lnTo>
                <a:lnTo>
                  <a:pt x="0" y="498613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ed75bddbcd164993"/>
            <a:stretch>
              <a:fillRect l="0" t="0" r="0" b="0"/>
            </a:stretch>
          </a:blipFill>
        </p:spPr>
      </p:sp>
    </p:spTree>
    <p:extLst>
      <p:ext uri="{BB962C8B-B14F-4D97-AF65-F5344CB8AC3E}">
        <p14:creationId xmlns:p14="http://schemas.microsoft.com/office/powerpoint/2010/main" val="17343996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4D13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836D3023-548D-488B-A43F-0880E616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624184" flipH="0" flipV="0">
            <a:off x="9190413" y="-1204481"/>
            <a:ext cx="9054625" cy="8058616"/>
          </a:xfrm>
          <a:custGeom xmlns:a="http://schemas.openxmlformats.org/drawingml/2006/main">
            <a:rect l="l" t="t" r="r" b="b"/>
            <a:pathLst>
              <a:path w="9054625" h="8058616">
                <a:moveTo>
                  <a:pt x="0" y="0"/>
                </a:moveTo>
                <a:lnTo>
                  <a:pt x="9054625" y="0"/>
                </a:lnTo>
                <a:lnTo>
                  <a:pt x="9054625" y="8058616"/>
                </a:lnTo>
                <a:lnTo>
                  <a:pt x="0" y="80586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c2d585b1a8b4ff4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76FED52-7CAC-4B80-8667-197FBAC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017281" flipH="0" flipV="0">
            <a:off x="7304671" y="971407"/>
            <a:ext cx="1811240" cy="1716150"/>
          </a:xfrm>
          <a:custGeom xmlns:a="http://schemas.openxmlformats.org/drawingml/2006/main">
            <a:rect l="l" t="t" r="r" b="b"/>
            <a:pathLst>
              <a:path w="1811240" h="1716150">
                <a:moveTo>
                  <a:pt x="0" y="0"/>
                </a:moveTo>
                <a:lnTo>
                  <a:pt x="1811240" y="0"/>
                </a:lnTo>
                <a:lnTo>
                  <a:pt x="1811240" y="1716150"/>
                </a:lnTo>
                <a:lnTo>
                  <a:pt x="0" y="171615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868db3155e74285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50946F80-698D-4538-921B-5941D528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567437" flipH="0" flipV="0">
            <a:off x="16126494" y="6825098"/>
            <a:ext cx="3789612" cy="3623816"/>
          </a:xfrm>
          <a:custGeom xmlns:a="http://schemas.openxmlformats.org/drawingml/2006/main">
            <a:rect l="l" t="t" r="r" b="b"/>
            <a:pathLst>
              <a:path w="3789612" h="3623816">
                <a:moveTo>
                  <a:pt x="0" y="0"/>
                </a:moveTo>
                <a:lnTo>
                  <a:pt x="3789612" y="0"/>
                </a:lnTo>
                <a:lnTo>
                  <a:pt x="3789612" y="3623816"/>
                </a:lnTo>
                <a:lnTo>
                  <a:pt x="0" y="362381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160a33faef478d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7FD06D5D-E5AB-4C74-AED5-C3F362A9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4599846"/>
            <a:ext cx="8934485" cy="1145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018"/>
              </a:lnSpc>
              <a:buNone/>
            </a:pPr>
            <a:r>
              <a:rPr sz="7642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</a:rPr>
              <a:t>22 степени свободы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31708C89-F469-4810-9D38-ADC98A7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2952314"/>
            <a:ext cx="1885905" cy="1004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7910"/>
              </a:lnSpc>
              <a:spcBef>
                <a:spcPct val="0"/>
              </a:spcBef>
              <a:buNone/>
            </a:pPr>
            <a:r>
              <a:rPr sz="6703" b="1">
                <a:solidFill>
                  <a:srgbClr val="FFFFFF">
                    <a:alpha val="60000"/>
                  </a:srgbClr>
                </a:solidFill>
                <a:latin typeface="HK Grotesk Bold"/>
                <a:ea typeface="HK Grotesk Bold"/>
                <a:cs typeface="HK Grotesk Bold"/>
              </a:rPr>
              <a:t>02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B37A50D-45FA-467D-88AC-C77B498C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8700" y="7163527"/>
            <a:ext cx="5653813" cy="6045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80"/>
              </a:lnSpc>
              <a:spcBef>
                <a:spcPct val="0"/>
              </a:spcBef>
              <a:buNone/>
            </a:pPr>
            <a:r>
              <a:rPr sz="1700" spc="-17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Манипулятор и ладонная подача воды и жидкой подкормки — проектная концепция.</a:t>
            </a:r>
          </a:p>
        </p:txBody>
      </p:sp>
    </p:spTree>
    <p:extLst>
      <p:ext uri="{BB962C8B-B14F-4D97-AF65-F5344CB8AC3E}">
        <p14:creationId xmlns:p14="http://schemas.microsoft.com/office/powerpoint/2010/main" val="84162485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E5D73FF0-0F25-4E92-9C1C-28FE54BF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1028700"/>
            <a:ext cx="8115300" cy="8389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06"/>
              </a:lnSpc>
              <a:buNone/>
            </a:pPr>
            <a:r>
              <a:rPr sz="5598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</a:rPr>
              <a:t>Сайт и Egin App</a:t>
            </a:r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EC6E86F-0F89-4CF0-808D-2440F014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6382836"/>
            <a:ext cx="8115300" cy="14442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43"/>
              </a:lnSpc>
              <a:spcBef>
                <a:spcPct val="0"/>
              </a:spcBef>
              <a:buNone/>
            </a:pPr>
            <a:r>
              <a:rPr sz="2031" spc="-2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Симуляция робота • панель управления • мобильная версия • ИИ-чат.</a:t>
            </a:r>
          </a:p>
          <a:p xmlns:a="http://schemas.openxmlformats.org/drawingml/2006/main">
            <a:pPr algn="l">
              <a:lnSpc>
                <a:spcPts val="2843"/>
              </a:lnSpc>
              <a:spcBef>
                <a:spcPct val="0"/>
              </a:spcBef>
              <a:buNone/>
            </a:pPr>
          </a:p>
          <a:p xmlns:a="http://schemas.openxmlformats.org/drawingml/2006/main">
            <a:pPr algn="l">
              <a:lnSpc>
                <a:spcPts val="2843"/>
              </a:lnSpc>
              <a:spcBef>
                <a:spcPct val="0"/>
              </a:spcBef>
              <a:buNone/>
            </a:pPr>
            <a:r>
              <a:rPr sz="2031" spc="-2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Статусы в симуляции демонстрационные.</a:t>
            </a:r>
          </a:p>
        </p:txBody>
      </p:sp>
    </p:spTree>
    <p:extLst>
      <p:ext uri="{BB962C8B-B14F-4D97-AF65-F5344CB8AC3E}">
        <p14:creationId xmlns:p14="http://schemas.microsoft.com/office/powerpoint/2010/main" val="4515885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4D13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2">
            <a:extLst xmlns:a="http://schemas.openxmlformats.org/drawingml/2006/main">
              <a:ext uri="{FF2B5EF4-FFF2-40B4-BE49-F238E27FC236}">
                <a16:creationId xmlns:a16="http://schemas.microsoft.com/office/drawing/2014/main" id="{BE41A3D5-2209-4083-81F5-D10A0C86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028700"/>
            <a:ext cx="8115300" cy="22905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9018"/>
              </a:lnSpc>
              <a:buNone/>
            </a:pPr>
            <a:r>
              <a:rPr sz="7642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</a:rPr>
              <a:t>Цифровой прототип</a:t>
            </a:r>
          </a:p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C5A71C5-55C7-46F2-B3B3-20596026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6417756"/>
            <a:ext cx="6019800" cy="12694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499"/>
              </a:lnSpc>
              <a:buNone/>
            </a:pPr>
            <a:r>
              <a:rPr sz="1785" spc="-17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На сайте доступны симуляция, интерфейс управления и ИИ-чат. Мобильная версия адаптирована под телефон. Данные роботов в демо не поступают с реальных сенсоров.</a:t>
            </a:r>
          </a:p>
        </p:txBody>
      </p:sp>
    </p:spTree>
    <p:extLst>
      <p:ext uri="{BB962C8B-B14F-4D97-AF65-F5344CB8AC3E}">
        <p14:creationId xmlns:p14="http://schemas.microsoft.com/office/powerpoint/2010/main" val="16859815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D3FBD3-9F0C-4388-8033-466C787CE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88749" flipH="0" flipV="0">
            <a:off x="15238549" y="7531796"/>
            <a:ext cx="2440941" cy="2312792"/>
          </a:xfrm>
          <a:custGeom xmlns:a="http://schemas.openxmlformats.org/drawingml/2006/main">
            <a:rect l="l" t="t" r="r" b="b"/>
            <a:pathLst>
              <a:path w="2440941" h="2312792">
                <a:moveTo>
                  <a:pt x="0" y="0"/>
                </a:moveTo>
                <a:lnTo>
                  <a:pt x="2440941" y="0"/>
                </a:lnTo>
                <a:lnTo>
                  <a:pt x="2440941" y="2312792"/>
                </a:lnTo>
                <a:lnTo>
                  <a:pt x="0" y="231279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108959c8a83446d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99D6DC9-0444-4E76-9605-E355F2EE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3119" flipH="0" flipV="0">
            <a:off x="13667511" y="-2216185"/>
            <a:ext cx="5583018" cy="5338761"/>
          </a:xfrm>
          <a:custGeom xmlns:a="http://schemas.openxmlformats.org/drawingml/2006/main">
            <a:rect l="l" t="t" r="r" b="b"/>
            <a:pathLst>
              <a:path w="5583018" h="5338761">
                <a:moveTo>
                  <a:pt x="0" y="0"/>
                </a:moveTo>
                <a:lnTo>
                  <a:pt x="5583018" y="0"/>
                </a:lnTo>
                <a:lnTo>
                  <a:pt x="5583018" y="5338761"/>
                </a:lnTo>
                <a:lnTo>
                  <a:pt x="0" y="533876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0a4d4df9804efa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AADE6A08-9406-4B7C-8FA5-A11294C2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05580" flipH="0" flipV="0">
            <a:off x="-2362671" y="6401890"/>
            <a:ext cx="7824542" cy="6963843"/>
          </a:xfrm>
          <a:custGeom xmlns:a="http://schemas.openxmlformats.org/drawingml/2006/main">
            <a:rect l="l" t="t" r="r" b="b"/>
            <a:pathLst>
              <a:path w="7824542" h="6963843">
                <a:moveTo>
                  <a:pt x="0" y="0"/>
                </a:moveTo>
                <a:lnTo>
                  <a:pt x="7824542" y="0"/>
                </a:lnTo>
                <a:lnTo>
                  <a:pt x="7824542" y="6963843"/>
                </a:lnTo>
                <a:lnTo>
                  <a:pt x="0" y="696384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314f299fdd24474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A60FD11-6AEA-4222-9049-FBB4105B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59566" flipH="0" flipV="0">
            <a:off x="-761750" y="523555"/>
            <a:ext cx="2895099" cy="2768439"/>
          </a:xfrm>
          <a:custGeom xmlns:a="http://schemas.openxmlformats.org/drawingml/2006/main">
            <a:rect l="l" t="t" r="r" b="b"/>
            <a:pathLst>
              <a:path w="2895099" h="2768439">
                <a:moveTo>
                  <a:pt x="0" y="0"/>
                </a:moveTo>
                <a:lnTo>
                  <a:pt x="2895100" y="0"/>
                </a:lnTo>
                <a:lnTo>
                  <a:pt x="2895100" y="2768439"/>
                </a:lnTo>
                <a:lnTo>
                  <a:pt x="0" y="276843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90a4d4df9804efa"/>
            <a:stretch>
              <a:fillRect l="0" t="0" r="0" b="0"/>
            </a:stretch>
          </a:blip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CDECB3D9-278E-4CAC-8265-CE2C53EB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21364" y="3858046"/>
            <a:ext cx="5307614" cy="15895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258"/>
              </a:lnSpc>
              <a:buNone/>
            </a:pPr>
            <a:r>
              <a:rPr sz="5304" b="1">
                <a:solidFill>
                  <a:srgbClr val="731F7D"/>
                </a:solidFill>
                <a:latin typeface="HK Grotesk Bold"/>
                <a:ea typeface="HK Grotesk Bold"/>
                <a:cs typeface="HK Grotesk Bold"/>
              </a:rPr>
              <a:t>Бронирование</a:t>
            </a:r>
          </a:p>
          <a:p xmlns:a="http://schemas.openxmlformats.org/drawingml/2006/main">
            <a:pPr algn="l">
              <a:lnSpc>
                <a:spcPts val="6258"/>
              </a:lnSpc>
              <a:buNone/>
            </a:pPr>
            <a:r>
              <a:rPr sz="5304" b="1">
                <a:solidFill>
                  <a:srgbClr val="731F7D"/>
                </a:solidFill>
                <a:latin typeface="HK Grotesk Bold"/>
                <a:ea typeface="HK Grotesk Bold"/>
                <a:cs typeface="HK Grotesk Bold"/>
              </a:rPr>
              <a:t>EGIN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E105132-4D01-4C6A-A99A-AA460575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5426" y="3145039"/>
            <a:ext cx="4530710" cy="10831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43"/>
              </a:lnSpc>
              <a:spcBef>
                <a:spcPct val="0"/>
              </a:spcBef>
              <a:buNone/>
            </a:pPr>
            <a:r>
              <a:rPr sz="2031" spc="-20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Форма заявки демонстрационная. Реальное бронирование пока не оформляется.</a:t>
            </a:r>
          </a:p>
        </p:txBody>
      </p:sp>
    </p:spTree>
    <p:extLst>
      <p:ext uri="{BB962C8B-B14F-4D97-AF65-F5344CB8AC3E}">
        <p14:creationId xmlns:p14="http://schemas.microsoft.com/office/powerpoint/2010/main" val="907312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4D13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1BBC232-5858-4DBC-9A6E-1E32B851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04678" y="1038225"/>
            <a:ext cx="7513117" cy="10598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8345"/>
              </a:lnSpc>
              <a:buNone/>
            </a:pPr>
            <a:r>
              <a:rPr sz="7072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</a:rPr>
              <a:t>Цена EGIN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1ABFE82D-44A7-4DBD-82F8-DA7BD02F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678" y="6521193"/>
            <a:ext cx="3883010" cy="68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4"/>
              </a:lnSpc>
              <a:spcBef>
                <a:spcPct val="0"/>
              </a:spcBef>
              <a:buNone/>
            </a:pPr>
            <a:r>
              <a:rPr sz="1938" spc="-19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Базовая комплектация — робот EGIN.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E8E7F5C6-F31A-4CA4-B229-34D39EC2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4678" y="5162872"/>
            <a:ext cx="3883010" cy="1004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7910"/>
              </a:lnSpc>
              <a:spcBef>
                <a:spcPct val="0"/>
              </a:spcBef>
              <a:buNone/>
            </a:pPr>
            <a:r>
              <a:rPr sz="670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</a:rPr>
              <a:t>2,8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A21ECA-94B6-40D5-AD5C-89538664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6290" y="6521193"/>
            <a:ext cx="3883010" cy="6893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714"/>
              </a:lnSpc>
              <a:spcBef>
                <a:spcPct val="0"/>
              </a:spcBef>
              <a:buNone/>
            </a:pPr>
            <a:r>
              <a:rPr sz="1938" spc="-19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Комплект с корзиной и датчиками, млн ₸.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F0AE368E-F792-43D9-9476-CD5C8D7E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376290" y="5162872"/>
            <a:ext cx="3883010" cy="1004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7910"/>
              </a:lnSpc>
              <a:spcBef>
                <a:spcPct val="0"/>
              </a:spcBef>
              <a:buNone/>
            </a:pPr>
            <a:r>
              <a:rPr sz="670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</a:rPr>
              <a:t>3,43</a:t>
            </a:r>
          </a:p>
        </p:txBody>
      </p:sp>
    </p:spTree>
    <p:extLst>
      <p:ext uri="{BB962C8B-B14F-4D97-AF65-F5344CB8AC3E}">
        <p14:creationId xmlns:p14="http://schemas.microsoft.com/office/powerpoint/2010/main" val="133155439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80885FF-50FB-4A93-946F-640DF3A4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4986" y="-3282418"/>
            <a:ext cx="7027814" cy="6254754"/>
          </a:xfrm>
          <a:custGeom xmlns:a="http://schemas.openxmlformats.org/drawingml/2006/main">
            <a:rect l="l" t="t" r="r" b="b"/>
            <a:pathLst>
              <a:path w="7027814" h="6254754">
                <a:moveTo>
                  <a:pt x="0" y="0"/>
                </a:moveTo>
                <a:lnTo>
                  <a:pt x="7027814" y="0"/>
                </a:lnTo>
                <a:lnTo>
                  <a:pt x="7027814" y="6254755"/>
                </a:lnTo>
                <a:lnTo>
                  <a:pt x="0" y="625475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d37feb3128c4b04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EDF566A-9B66-45ED-9C6E-94FC07A1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90257" flipH="0" flipV="0">
            <a:off x="7989172" y="8611142"/>
            <a:ext cx="2546291" cy="2412611"/>
          </a:xfrm>
          <a:custGeom xmlns:a="http://schemas.openxmlformats.org/drawingml/2006/main">
            <a:rect l="l" t="t" r="r" b="b"/>
            <a:pathLst>
              <a:path w="2546291" h="2412611">
                <a:moveTo>
                  <a:pt x="0" y="0"/>
                </a:moveTo>
                <a:lnTo>
                  <a:pt x="2546291" y="0"/>
                </a:lnTo>
                <a:lnTo>
                  <a:pt x="2546291" y="2412611"/>
                </a:lnTo>
                <a:lnTo>
                  <a:pt x="0" y="241261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418c5721f0e4d41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6E96986-01AD-433E-967B-8E887C97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148233" flipH="0" flipV="0">
            <a:off x="12976018" y="3273608"/>
            <a:ext cx="6861060" cy="6560888"/>
          </a:xfrm>
          <a:custGeom xmlns:a="http://schemas.openxmlformats.org/drawingml/2006/main">
            <a:rect l="l" t="t" r="r" b="b"/>
            <a:pathLst>
              <a:path w="6861060" h="6560888">
                <a:moveTo>
                  <a:pt x="0" y="0"/>
                </a:moveTo>
                <a:lnTo>
                  <a:pt x="6861060" y="0"/>
                </a:lnTo>
                <a:lnTo>
                  <a:pt x="6861060" y="6560888"/>
                </a:lnTo>
                <a:lnTo>
                  <a:pt x="0" y="656088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2ff5cea41884c0d"/>
            <a:stretch>
              <a:fillRect l="0" t="0" r="0" b="0"/>
            </a:stretch>
          </a:blipFill>
        </p:spPr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AF108284-D21C-408A-BE9D-F012108D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028700"/>
            <a:ext cx="9235582" cy="9309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7330"/>
              </a:lnSpc>
              <a:buNone/>
            </a:pPr>
            <a:r>
              <a:rPr sz="6212" b="1">
                <a:solidFill>
                  <a:srgbClr val="4D1354"/>
                </a:solidFill>
                <a:latin typeface="HK Grotesk Bold"/>
                <a:ea typeface="HK Grotesk Bold"/>
                <a:cs typeface="HK Grotesk Bold"/>
              </a:rPr>
              <a:t>Срок службы и экономика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504A5A69-8732-431F-860D-8080AB7D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8245987"/>
            <a:ext cx="1483795" cy="1004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ts val="7910"/>
              </a:lnSpc>
              <a:spcBef>
                <a:spcPct val="0"/>
              </a:spcBef>
              <a:buNone/>
            </a:pPr>
            <a:r>
              <a:rPr sz="6703" b="1">
                <a:solidFill>
                  <a:srgbClr val="000000"/>
                </a:solidFill>
                <a:latin typeface="HK Grotesk Bold"/>
                <a:ea typeface="HK Grotesk Bold"/>
                <a:cs typeface="HK Grotesk Bold"/>
              </a:rPr>
              <a:t>03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20AF127C-7C01-4264-BD41-31796496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071896"/>
            <a:ext cx="3787282" cy="885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23"/>
              </a:lnSpc>
              <a:spcBef>
                <a:spcPct val="0"/>
              </a:spcBef>
              <a:buNone/>
            </a:pPr>
            <a:r>
              <a:rPr sz="1659" spc="-16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Покупатель: окупаемость около 1,3–2,6 года* при экономии 20 часов работы в неделю.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35E5933-DB63-44B0-B77F-A58F571F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071896"/>
            <a:ext cx="3787282" cy="885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323"/>
              </a:lnSpc>
              <a:spcBef>
                <a:spcPct val="0"/>
              </a:spcBef>
              <a:buNone/>
            </a:pPr>
            <a:r>
              <a:rPr sz="1659" spc="-16">
                <a:solidFill>
                  <a:srgbClr val="000000"/>
                </a:solidFill>
                <a:latin typeface="Noto Sans JP"/>
                <a:ea typeface="Noto Sans JP"/>
                <a:cs typeface="Noto Sans JP"/>
              </a:rPr>
              <a:t>Продавец: при цене 2,8 млн ₸ себестоимость до 1,96 млн ₸ соответствует 30% валовой марже.</a:t>
            </a:r>
          </a:p>
        </p:txBody>
      </p:sp>
    </p:spTree>
    <p:extLst>
      <p:ext uri="{BB962C8B-B14F-4D97-AF65-F5344CB8AC3E}">
        <p14:creationId xmlns:p14="http://schemas.microsoft.com/office/powerpoint/2010/main" val="16015104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4D135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178FD453-A8F0-4DA4-B27A-3550895F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494633" flipH="0" flipV="0">
            <a:off x="7828277" y="9031944"/>
            <a:ext cx="2604581" cy="2467841"/>
          </a:xfrm>
          <a:custGeom xmlns:a="http://schemas.openxmlformats.org/drawingml/2006/main">
            <a:rect l="l" t="t" r="r" b="b"/>
            <a:pathLst>
              <a:path w="2604581" h="2467841">
                <a:moveTo>
                  <a:pt x="0" y="0"/>
                </a:moveTo>
                <a:lnTo>
                  <a:pt x="2604581" y="0"/>
                </a:lnTo>
                <a:lnTo>
                  <a:pt x="2604581" y="2467841"/>
                </a:lnTo>
                <a:lnTo>
                  <a:pt x="0" y="246784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28944458e0b4815"/>
            <a:stretch>
              <a:fillRect l="0" t="0" r="0" b="0"/>
            </a:stretch>
          </a:blipFill>
        </p:spPr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EEF1320-BBA1-4E6D-A772-B7FA009A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088749" flipH="0" flipV="0">
            <a:off x="1631143" y="-2578373"/>
            <a:ext cx="3903561" cy="3698625"/>
          </a:xfrm>
          <a:custGeom xmlns:a="http://schemas.openxmlformats.org/drawingml/2006/main">
            <a:rect l="l" t="t" r="r" b="b"/>
            <a:pathLst>
              <a:path w="3903561" h="3698625">
                <a:moveTo>
                  <a:pt x="0" y="0"/>
                </a:moveTo>
                <a:lnTo>
                  <a:pt x="3903562" y="0"/>
                </a:lnTo>
                <a:lnTo>
                  <a:pt x="3903562" y="3698625"/>
                </a:lnTo>
                <a:lnTo>
                  <a:pt x="0" y="369862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28944458e0b4815"/>
            <a:stretch>
              <a:fillRect l="0" t="0" r="0" b="0"/>
            </a:stretch>
          </a:blipFill>
        </p:spPr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F6A6FDF1-200C-479D-8161-A2C74B29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13119" flipH="0" flipV="0">
            <a:off x="-3109196" y="4175850"/>
            <a:ext cx="8275792" cy="7913726"/>
          </a:xfrm>
          <a:custGeom xmlns:a="http://schemas.openxmlformats.org/drawingml/2006/main">
            <a:rect l="l" t="t" r="r" b="b"/>
            <a:pathLst>
              <a:path w="8275792" h="7913726">
                <a:moveTo>
                  <a:pt x="0" y="0"/>
                </a:moveTo>
                <a:lnTo>
                  <a:pt x="8275792" y="0"/>
                </a:lnTo>
                <a:lnTo>
                  <a:pt x="8275792" y="7913726"/>
                </a:lnTo>
                <a:lnTo>
                  <a:pt x="0" y="791372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77fa2e1db59483a">
              <a:alphaModFix amt="57000"/>
            </a:blip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1ECD4F83-BC46-4FCD-B922-55FAF0B6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65189" flipH="0" flipV="0">
            <a:off x="11239029" y="-3141539"/>
            <a:ext cx="7824542" cy="6963843"/>
          </a:xfrm>
          <a:custGeom xmlns:a="http://schemas.openxmlformats.org/drawingml/2006/main">
            <a:rect l="l" t="t" r="r" b="b"/>
            <a:pathLst>
              <a:path w="7824542" h="6963843">
                <a:moveTo>
                  <a:pt x="0" y="0"/>
                </a:moveTo>
                <a:lnTo>
                  <a:pt x="7824542" y="0"/>
                </a:lnTo>
                <a:lnTo>
                  <a:pt x="7824542" y="6963842"/>
                </a:lnTo>
                <a:lnTo>
                  <a:pt x="0" y="696384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fa4b42ddd3347b1">
              <a:alphaModFix amt="68000"/>
            </a:blip>
            <a:stretch>
              <a:fillRect l="0" t="0" r="0" b="0"/>
            </a:stretch>
          </a:blipFill>
        </p:spPr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9C5472B1-50B9-446C-A15A-066ED3C0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7755" flipH="0" flipV="0">
            <a:off x="13218087" y="5225672"/>
            <a:ext cx="6135171" cy="7102948"/>
          </a:xfrm>
          <a:custGeom xmlns:a="http://schemas.openxmlformats.org/drawingml/2006/main">
            <a:rect l="l" t="t" r="r" b="b"/>
            <a:pathLst>
              <a:path w="6135171" h="7102948">
                <a:moveTo>
                  <a:pt x="0" y="0"/>
                </a:moveTo>
                <a:lnTo>
                  <a:pt x="6135171" y="0"/>
                </a:lnTo>
                <a:lnTo>
                  <a:pt x="6135171" y="7102948"/>
                </a:lnTo>
                <a:lnTo>
                  <a:pt x="0" y="710294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fec6f9c44547f1"/>
            <a:stretch>
              <a:fillRect l="0" t="0" r="0" b="0"/>
            </a:stretch>
          </a:blip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61BBFB48-98AC-4046-BD57-C0302871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9150" y="3862543"/>
            <a:ext cx="10909700" cy="1407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541"/>
              </a:lnSpc>
              <a:buNone/>
            </a:pPr>
            <a:r>
              <a:rPr sz="4695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</a:rPr>
              <a:t>Пять лет — сценарий для расчёта, не подтверждённый срок службы.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8CFCEA1A-F221-47A4-823C-3D732CFA5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909641" y="5926273"/>
            <a:ext cx="8468717" cy="1131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456"/>
              </a:lnSpc>
              <a:buNone/>
            </a:pPr>
            <a:r>
              <a:rPr sz="3427">
                <a:solidFill>
                  <a:srgbClr val="FFFFFF"/>
                </a:solidFill>
                <a:latin typeface="Vollkorn"/>
                <a:ea typeface="Vollkorn"/>
                <a:cs typeface="Vollkorn"/>
              </a:rPr>
              <a:t>Следующий шаг — пилот и замеры ресурса робота.</a:t>
            </a:r>
          </a:p>
        </p:txBody>
      </p:sp>
    </p:spTree>
    <p:extLst>
      <p:ext uri="{BB962C8B-B14F-4D97-AF65-F5344CB8AC3E}">
        <p14:creationId xmlns:p14="http://schemas.microsoft.com/office/powerpoint/2010/main" val="11859647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2026-10-27T03:18:01.5890000Z</dcterms:created>
  <dcterms:modified xsi:type="dcterms:W3CDTF">2026-10-27T03:18:01.5890000Z</dcterms:modified>
</coreProperties>
</file>