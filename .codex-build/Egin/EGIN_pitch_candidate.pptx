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b15c705e74813" /><Relationship Type="http://schemas.openxmlformats.org/officeDocument/2006/relationships/extended-properties" Target="/docProps/app.xml" Id="R0619400d24444a4a" /><Relationship Type="http://schemas.openxmlformats.org/officeDocument/2006/relationships/officeDocument" Target="/ppt/presentation.xml" Id="Rcc7cda2f276e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85619b91c452b"/>
  </p:sldMasterIdLst>
  <p:notesMasterIdLst>
    <p:notesMasterId xmlns:r="http://schemas.openxmlformats.org/officeDocument/2006/relationships" r:id="R2897b968d8ea4763"/>
  </p:notesMasterIdLst>
  <p:sldIdLst>
    <p:sldId xmlns:r="http://schemas.openxmlformats.org/officeDocument/2006/relationships" id="256" r:id="R90d588b88c834d2d"/>
    <p:sldId xmlns:r="http://schemas.openxmlformats.org/officeDocument/2006/relationships" id="257" r:id="Rfefa9a21008f4b4e"/>
    <p:sldId xmlns:r="http://schemas.openxmlformats.org/officeDocument/2006/relationships" id="258" r:id="Rbff6703fd8394e39"/>
    <p:sldId xmlns:r="http://schemas.openxmlformats.org/officeDocument/2006/relationships" id="259" r:id="R5c183da3d72f4b9f"/>
    <p:sldId xmlns:r="http://schemas.openxmlformats.org/officeDocument/2006/relationships" id="260" r:id="Rdd4063f11fc34a7d"/>
    <p:sldId xmlns:r="http://schemas.openxmlformats.org/officeDocument/2006/relationships" id="261" r:id="R1c258a38d93e4aa4"/>
    <p:sldId xmlns:r="http://schemas.openxmlformats.org/officeDocument/2006/relationships" id="262" r:id="R06c76197ce3e4516"/>
    <p:sldId xmlns:r="http://schemas.openxmlformats.org/officeDocument/2006/relationships" id="263" r:id="R1ebcf06ca14e4b03"/>
    <p:sldId xmlns:r="http://schemas.openxmlformats.org/officeDocument/2006/relationships" id="264" r:id="Raf189358cbc6430e"/>
    <p:sldId xmlns:r="http://schemas.openxmlformats.org/officeDocument/2006/relationships" id="265" r:id="R31781de4fcea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a4093c6874615" /><Relationship Type="http://schemas.openxmlformats.org/officeDocument/2006/relationships/slideMaster" Target="/ppt/slideMasters/slideMaster1.xml" Id="R7e685619b91c452b" /><Relationship Type="http://schemas.openxmlformats.org/officeDocument/2006/relationships/notesMaster" Target="/ppt/notesMasters/notesMaster1.xml" Id="R2897b968d8ea4763" /><Relationship Type="http://schemas.openxmlformats.org/officeDocument/2006/relationships/presProps" Target="/ppt/presProps.xml" Id="Rf376caf6931d40d9" /><Relationship Type="http://schemas.openxmlformats.org/officeDocument/2006/relationships/tableStyles" Target="/ppt/tableStyles.xml" Id="R11aa2c4504914220" /><Relationship Type="http://schemas.openxmlformats.org/officeDocument/2006/relationships/slide" Target="/ppt/slides/slide1.xml" Id="R90d588b88c834d2d" /><Relationship Type="http://schemas.openxmlformats.org/officeDocument/2006/relationships/slide" Target="/ppt/slides/slide2.xml" Id="Rfefa9a21008f4b4e" /><Relationship Type="http://schemas.openxmlformats.org/officeDocument/2006/relationships/slide" Target="/ppt/slides/slide3.xml" Id="Rbff6703fd8394e39" /><Relationship Type="http://schemas.openxmlformats.org/officeDocument/2006/relationships/slide" Target="/ppt/slides/slide4.xml" Id="R5c183da3d72f4b9f" /><Relationship Type="http://schemas.openxmlformats.org/officeDocument/2006/relationships/slide" Target="/ppt/slides/slide5.xml" Id="Rdd4063f11fc34a7d" /><Relationship Type="http://schemas.openxmlformats.org/officeDocument/2006/relationships/slide" Target="/ppt/slides/slide6.xml" Id="R1c258a38d93e4aa4" /><Relationship Type="http://schemas.openxmlformats.org/officeDocument/2006/relationships/slide" Target="/ppt/slides/slide7.xml" Id="R06c76197ce3e4516" /><Relationship Type="http://schemas.openxmlformats.org/officeDocument/2006/relationships/slide" Target="/ppt/slides/slide8.xml" Id="R1ebcf06ca14e4b03" /><Relationship Type="http://schemas.openxmlformats.org/officeDocument/2006/relationships/slide" Target="/ppt/slides/slide9.xml" Id="Raf189358cbc6430e" /><Relationship Type="http://schemas.openxmlformats.org/officeDocument/2006/relationships/slide" Target="/ppt/slides/slide10.xml" Id="R31781de4fcea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b54451cb75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944e539e14475" /><Relationship Type="http://schemas.openxmlformats.org/officeDocument/2006/relationships/notesMaster" Target="/ppt/notesMasters/notesMaster1.xml" Id="Re5ac71bdf943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072ffc7814229" /><Relationship Type="http://schemas.openxmlformats.org/officeDocument/2006/relationships/notesMaster" Target="/ppt/notesMasters/notesMaster1.xml" Id="R3b489b5e79494b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706491341642d6" /><Relationship Type="http://schemas.openxmlformats.org/officeDocument/2006/relationships/notesMaster" Target="/ppt/notesMasters/notesMaster1.xml" Id="R5165f8f4975148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1cd42ff124e6f" /><Relationship Type="http://schemas.openxmlformats.org/officeDocument/2006/relationships/notesMaster" Target="/ppt/notesMasters/notesMaster1.xml" Id="R74287bf420724d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c4240630d4984" /><Relationship Type="http://schemas.openxmlformats.org/officeDocument/2006/relationships/notesMaster" Target="/ppt/notesMasters/notesMaster1.xml" Id="R8a51496e4e2345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b935a11184527" /><Relationship Type="http://schemas.openxmlformats.org/officeDocument/2006/relationships/notesMaster" Target="/ppt/notesMasters/notesMaster1.xml" Id="Ra85979a9d63445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ec0c98a38e493f" /><Relationship Type="http://schemas.openxmlformats.org/officeDocument/2006/relationships/notesMaster" Target="/ppt/notesMasters/notesMaster1.xml" Id="R87ffdf5e767c4e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52f24188834e30" /><Relationship Type="http://schemas.openxmlformats.org/officeDocument/2006/relationships/notesMaster" Target="/ppt/notesMasters/notesMaster1.xml" Id="R8881d8a94dab43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d9ab47bdb94063" /><Relationship Type="http://schemas.openxmlformats.org/officeDocument/2006/relationships/notesMaster" Target="/ppt/notesMasters/notesMaster1.xml" Id="R4a424718247440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aa1466486a4d3c" /><Relationship Type="http://schemas.openxmlformats.org/officeDocument/2006/relationships/notesMaster" Target="/ppt/notesMasters/notesMaster1.xml" Id="R0a1d2db07523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титульный раздел и рис. 2. Изображение робота — концепт-визуализация, не фотография испытаний.</a:t>
            </a:r>
          </a:p>
          <a:p xmlns:a="http://schemas.openxmlformats.org/drawingml/2006/main">
            <a:r>
              <a:t>Источник: Egin.docx, таблица паспортизации проекта. Контактные данные в слайд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таблица паспортизации проекта. Контактные данные в слайд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раздел 2. Оценка 15–25 ч/нед взята из проектного документа и не проверена независимым замером; на слайде обозначена как оценка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1, 5–7. Функции описывают проектную концепцию и требуют подтверждения испытаниями.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5–7 и рис. 1. 22 степени свободы и подача жидкостей — спецификация проекта, не результат независимых испытаний.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3, 6. Точность диагностики и автоматическое выполнение рекомендаций не заявляются как подтвержденные показатели.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раздел 8 и рис. 6. Интерфейс сайта является демонстрацией; статусы роботов симулируются.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цен: src/components/OrderModal.tsx. Базовая цена 2 800 000 ₸; корзина 450 000 ₸; датчики 180 000 ₸; обучение 120 000 ₸. Комплект с корзиной и датчиками: 3 430 000 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Покупатель: расчет использует целевой показатель 20 ч/нед из Egin.docx и среднемесячную зарплату 365 262 ₸ в сельском хозяйстве, лесном и рыбном хозяйстве во II квартале 2026 года (Бюро национальной статистики РК: https://stat.gov.kz/en/industries/labor-and-venue/stat-wags/publications/514654/). 20 ч/нед приняты за половину стандартной 40-часовой недели. Простая окупаемость базовой цены 2,8 млн ₸: около 1,28 года при круглогодичном использовании или 2,56 года при шестимесячном сезоне. До обслуживания, электроэнергии, ремонтов, простоев и контроля человеком. Продавец: 30% валовой маржи от 2,8 млн ₸ требует себестоимости не выше 1,96 млн ₸; фактическая себестоимость неизвестна. Все оценки — сценарные, не гарантии.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Пятилетний срок — расчетное допущение для предварительной модели, не подтвержденный ресурс и не гарантийный срок. Следующий этап — пилот с измерением времени задач, расхода воды, надежности, циклов аккумулятора, обслуживания и простоев.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fd78b533e4e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c61b853fd49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8b7d046a940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35c7c5f3f43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cce9515b545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6b25dafbd49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69D1AA-ABD3-4F9E-AAFD-634041B32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1103D2-6DEB-4D13-96C8-1A237ECD83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FA7CB4-BB80-4128-9B68-93003427A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E5D3C5-137F-4BD1-BAA0-917CC0B62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24918B-1A10-4BBF-8818-B56274A0A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D83573-3EC2-44D4-9858-C3F00B28B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342FE-BD44-4D46-AD86-F751630557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47A6D7-D974-46EC-ABEC-462AF79329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7B4E0-B4DC-444F-B814-9F7DEE8E8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398405-86CD-41BB-A13C-7AD612E8F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9b535ecae046cf" /><Relationship Type="http://schemas.openxmlformats.org/officeDocument/2006/relationships/slideLayout" Target="/ppt/slideLayouts/slideLayout1.xml" Id="Rf9ca605d54c64870" /><Relationship Type="http://schemas.openxmlformats.org/officeDocument/2006/relationships/slideLayout" Target="/ppt/slideLayouts/slideLayout2.xml" Id="R47ed19200905434d" /><Relationship Type="http://schemas.openxmlformats.org/officeDocument/2006/relationships/slideLayout" Target="/ppt/slideLayouts/slideLayout3.xml" Id="R314c326809cc4e2d" /><Relationship Type="http://schemas.openxmlformats.org/officeDocument/2006/relationships/slideLayout" Target="/ppt/slideLayouts/slideLayout4.xml" Id="R02d71755825745c0" /><Relationship Type="http://schemas.openxmlformats.org/officeDocument/2006/relationships/slideLayout" Target="/ppt/slideLayouts/slideLayout5.xml" Id="R604523acc2e94cb8" /><Relationship Type="http://schemas.openxmlformats.org/officeDocument/2006/relationships/slideLayout" Target="/ppt/slideLayouts/slideLayout6.xml" Id="R6b42f6549bde48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a605d54c64870"/>
    <p:sldLayoutId xmlns:r="http://schemas.openxmlformats.org/officeDocument/2006/relationships" id="2147483650" r:id="R47ed19200905434d"/>
    <p:sldLayoutId xmlns:r="http://schemas.openxmlformats.org/officeDocument/2006/relationships" id="2147483651" r:id="R314c326809cc4e2d"/>
    <p:sldLayoutId xmlns:r="http://schemas.openxmlformats.org/officeDocument/2006/relationships" id="2147483652" r:id="R02d71755825745c0"/>
    <p:sldLayoutId xmlns:r="http://schemas.openxmlformats.org/officeDocument/2006/relationships" id="2147483653" r:id="R604523acc2e94cb8"/>
    <p:sldLayoutId xmlns:r="http://schemas.openxmlformats.org/officeDocument/2006/relationships" id="2147483654" r:id="R6b42f6549bde48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a42fbfea54c3d" /><Relationship Type="http://schemas.openxmlformats.org/officeDocument/2006/relationships/image" Target="/ppt/media/image.jpeg" Id="R9ad5bc9e7d1d4daa" /><Relationship Type="http://schemas.openxmlformats.org/officeDocument/2006/relationships/notesSlide" Target="/ppt/notesSlides/notesSlide1.xml" Id="Ra8d702c21535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0912845c34134" /><Relationship Type="http://schemas.openxmlformats.org/officeDocument/2006/relationships/notesSlide" Target="/ppt/notesSlides/notesSlide2.xml" Id="Rc269ca84668a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56b2b93c64530" /><Relationship Type="http://schemas.openxmlformats.org/officeDocument/2006/relationships/image" Target="/ppt/media/image2.jpeg" Id="Rc2181bbe75fc4b94" /><Relationship Type="http://schemas.openxmlformats.org/officeDocument/2006/relationships/notesSlide" Target="/ppt/notesSlides/notesSlide3.xml" Id="R49542062c82246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849f0084c42be" /><Relationship Type="http://schemas.openxmlformats.org/officeDocument/2006/relationships/image" Target="/ppt/media/image3.jpeg" Id="R72a07db4799c4b5e" /><Relationship Type="http://schemas.openxmlformats.org/officeDocument/2006/relationships/notesSlide" Target="/ppt/notesSlides/notesSlide4.xml" Id="R488a214156a84f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dc74180874d8e" /><Relationship Type="http://schemas.openxmlformats.org/officeDocument/2006/relationships/image" Target="/ppt/media/image4.jpeg" Id="R2fe262ccfae549a3" /><Relationship Type="http://schemas.openxmlformats.org/officeDocument/2006/relationships/notesSlide" Target="/ppt/notesSlides/notesSlide5.xml" Id="R3d840f15c1da49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3b45a48044146" /><Relationship Type="http://schemas.openxmlformats.org/officeDocument/2006/relationships/image" Target="/ppt/media/image5.jpeg" Id="R31809a4f018047a4" /><Relationship Type="http://schemas.openxmlformats.org/officeDocument/2006/relationships/notesSlide" Target="/ppt/notesSlides/notesSlide6.xml" Id="R5b70ccc7af4449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2dc5a76bb4455" /><Relationship Type="http://schemas.openxmlformats.org/officeDocument/2006/relationships/image" Target="/ppt/media/image6.jpeg" Id="Rb8efee3ec105431c" /><Relationship Type="http://schemas.openxmlformats.org/officeDocument/2006/relationships/notesSlide" Target="/ppt/notesSlides/notesSlide7.xml" Id="R67d0023abc6b44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dd39c437d4b29" /><Relationship Type="http://schemas.openxmlformats.org/officeDocument/2006/relationships/image" Target="/ppt/media/image7.jpeg" Id="R528b7942b4824ef2" /><Relationship Type="http://schemas.openxmlformats.org/officeDocument/2006/relationships/notesSlide" Target="/ppt/notesSlides/notesSlide8.xml" Id="R09253f5bfb1844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b3aeb8cba4aee" /><Relationship Type="http://schemas.openxmlformats.org/officeDocument/2006/relationships/notesSlide" Target="/ppt/notesSlides/notesSlide9.xml" Id="R4457ca53011546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178624de44ea7" /><Relationship Type="http://schemas.openxmlformats.org/officeDocument/2006/relationships/notesSlide" Target="/ppt/notesSlides/notesSlide10.xml" Id="R3d4ccdc97377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7B7E7-B1E1-42A2-A7D6-48CC0FA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AQMOLA POWER  • 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CD95A-30CE-428C-8A87-FD107E02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99"/>
          </a:bodyPr>
          <a:lstStyle xmlns:a="http://schemas.openxmlformats.org/drawingml/2006/main">
            <a:def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C821-5AD7-4CBB-B9E4-729DE639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АГРО-РОБОТ</a:t>
            </a:r>
          </a:p>
          <a:p xmlns:a="http://schemas.openxmlformats.org/drawingml/2006/main">
            <a: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ДЛЯ ТЕПЛИЦЫ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90446-2DEC-431D-ADFC-6F1F1FE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Робототехника  ×  ИИ  ×  агротехнологии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DE34-2765-410C-BE5A-13845DA5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Абай Тлеугалиев  •  Astana IT University / JanaBales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59D73-0F5C-4F60-8BD6-C5EFE9F49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5bc9e7d1d4daa"/>
          <a:stretch xmlns:a="http://schemas.openxmlformats.org/drawingml/2006/main"/>
        </p:blipFill>
        <p:spPr>
          <a:xfrm xmlns:a="http://schemas.openxmlformats.org/drawingml/2006/main">
            <a:off x="5810250" y="1815066"/>
            <a:ext cx="5715000" cy="3189767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5C292-68ED-467B-9217-72982CE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КОНЦЕПТ ПРОЕКТА  •  КОСШЫ, АКМОЛИНСКАЯ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111729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6C704-3D72-4E6D-9C4C-CB3249A4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Автор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F85DE-F633-473E-95F1-BAA36E9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F7DEA-6E1D-474E-A6B4-C21DADB3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12980-CF5F-4F58-AF0C-2DA11987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Абай Тлеугалиев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6A281-FECB-4FAE-9F58-91783B91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1D59D"/>
                </a:solidFill>
                <a:latin typeface="Arial"/>
                <a:ea typeface="Arial"/>
                <a:cs typeface="Arial"/>
              </a:rPr>
              <a:t>Astana IT University  /  JanaBales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75BFE-9DCB-49E2-9802-BF8F531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51500-1068-452C-BB3A-EB385EE4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РОБОТОТЕХНИКА     ×     ИСКУССТВЕННЫЙ ИНТЕЛЛЕКТ     ×     АГРОТЕХНОЛОГИИ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FE1B3-348F-4918-8EFC-1891CD7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EGIN — проект для теплиц и небольших хозяйств Акмолинской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095246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B1CFE-27D8-4741-B69A-479E54B3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Рутинный уход отнимает время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BC88B-816F-44D1-B1FB-6BA1B88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B1440-3C26-4AE8-8870-E1264E3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F0A20-4114-49CA-AD96-164A8BCBA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81bbe75fc4b94"/>
          <a:srcRect xmlns:a="http://schemas.openxmlformats.org/drawingml/2006/main" l="13372" t="0" r="13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049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D61AB-62BD-4CBF-A949-C41C31A5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ОЦЕНКА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D3CD6-D702-4BE2-A65E-2C117846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15–25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A02E5-7289-44D9-94FA-F9483BF1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часов ручной работы в неделю*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B2798-F8F9-4598-B02C-9FFB9FC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7625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Полив  •  прополка  •  осмотр растений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FF396-9766-4ACF-9C44-2F3E571A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Оценка из проектного документа; проверяется замерами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683983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C7C37-DB23-492C-84A9-CA567E73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EGIN — помощник для теплицы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CA2CB-D518-4CD6-A5D7-BB43C73C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8E59E-7410-4542-8148-796BA7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1821-1027-4DA8-9BD6-6CB6831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ПРОЕКТНАЯ КОНЦЕПЦИЯ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2E8C-1095-4670-B059-B55C76A1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Рутина —</a:t>
            </a:r>
          </a:p>
          <a:p xmlns:a="http://schemas.openxmlformats.org/drawingml/2006/main">
            <a: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под контроль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AE6CE-4050-471D-9519-CABA4A4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Точечный полив</a:t>
            </a:r>
          </a:p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Мониторинг растений</a:t>
            </a:r>
          </a:p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Перенос урожая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B7FEB-F38C-4C55-9C65-C690FE802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07db4799c4b5e"/>
          <a:srcRect xmlns:a="http://schemas.openxmlformats.org/drawingml/2006/main" l="11130" t="0" r="11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428750"/>
            <a:ext cx="5572125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CF743-83EB-4C54-9E85-965EBCF8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D59D"/>
                </a:solidFill>
                <a:latin typeface="Arial"/>
                <a:ea typeface="Arial"/>
                <a:cs typeface="Arial"/>
              </a:rPr>
              <a:t>Задача робота — помогать человеку, а не заменять агронома.</a:t>
            </a:r>
          </a:p>
        </p:txBody>
      </p:sp>
    </p:spTree>
    <p:extLst>
      <p:ext uri="{BB962C8B-B14F-4D97-AF65-F5344CB8AC3E}">
        <p14:creationId xmlns:p14="http://schemas.microsoft.com/office/powerpoint/2010/main" val="400007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96512-173F-4113-ABF4-F0633CD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Конструкция для работы у грядок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7E1CB-A0E2-4BA7-8E4E-415228E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A6DAD-A032-4D55-AE27-B8923E21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D61A3-4134-41B3-A508-F3917B44E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262ccfae549a3"/>
          <a:srcRect xmlns:a="http://schemas.openxmlformats.org/drawingml/2006/main" l="13411" t="0" r="134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5619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D0F15-EDDA-4FBC-8A61-6EAC7F5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ИНЖЕНЕРНАЯ КОНЦЕПЦИЯ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CBDB3-04D4-42F8-9C3F-42AEC86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19BF3-F5B2-445D-9BDA-E46C906A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степени свободы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E2285-859B-4552-A5D0-5AA7F9C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ABA09-CCA8-4363-9F17-15E9363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957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Ладонный полив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38CEB-BC1F-45AF-A5CC-ED48760A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вода  +  жидкая подкормка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3E361-D8BA-4905-AC4C-8CA3A444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768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Модульная корзина Follow-Me</a:t>
            </a:r>
          </a:p>
        </p:txBody>
      </p:sp>
    </p:spTree>
    <p:extLst>
      <p:ext uri="{BB962C8B-B14F-4D97-AF65-F5344CB8AC3E}">
        <p14:creationId xmlns:p14="http://schemas.microsoft.com/office/powerpoint/2010/main" val="1019858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8D832-934D-44BE-B43E-B26B3EB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Зрение, AR и ИИ-агроном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10084-AEF9-4168-96F2-7945D3F8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BA339-9ECA-44B4-81EF-558667E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8B3F7-7D00-4268-8D63-71BB9B68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ЗАЛОЖЕННЫЕ ФУНКЦИИ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1BE30-2068-4F5B-B5D0-3DE7A180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ИИ-зрение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40CD9-07CE-43FF-AC15-EF5DE36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наблюдение за культурами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EBEED-FF62-40B0-B7D2-D3D8BFBF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AR-разметка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3959E-CF22-4870-A153-ACF8972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границы и карта грядок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4262F-E8DF-4444-9009-31C5ED52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ИИ-агроном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CC5B3-A983-4CF2-BCDE-67AE404D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вопросы по уходу за растениями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BEC90-A75B-4A2B-8E40-92AE5F5A9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09a4f018047a4"/>
          <a:srcRect xmlns:a="http://schemas.openxmlformats.org/drawingml/2006/main" l="12338" t="0" r="123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24000"/>
            <a:ext cx="5524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70CAD-E5DE-4532-A8DA-2BE16D03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Точность распознавания и рекомендации должны быть подтверждены испытаниями.</a:t>
            </a:r>
          </a:p>
        </p:txBody>
      </p:sp>
    </p:spTree>
    <p:extLst>
      <p:ext uri="{BB962C8B-B14F-4D97-AF65-F5344CB8AC3E}">
        <p14:creationId xmlns:p14="http://schemas.microsoft.com/office/powerpoint/2010/main" val="1338162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95061-3640-4015-9DDF-2D62C039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Цифровая часть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6CC3D-3F5F-43A9-B156-DBF482B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4D47F-8042-4E01-8D53-6550DBC8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E60F6-773B-4F66-9A1D-6AF58CBF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САЙТ И EGIN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0D361-324B-42B7-BEAC-21A23E40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Симуляция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Панель управления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Мобильный интерфейс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ИИ-чат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3873-AD0F-44FE-BF86-3748FEE1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Форма заявки —</a:t>
            </a:r>
          </a:p>
          <a:p xmlns:a="http://schemas.openxmlformats.org/drawingml/2006/main">
            <a: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демонстрационная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C4BB8-2A72-43AA-A427-5D78D4B76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fee3ec105431c"/>
          <a:srcRect xmlns:a="http://schemas.openxmlformats.org/drawingml/2006/main" l="12061" t="0" r="120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371600"/>
            <a:ext cx="55721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1FA57-BECC-4642-9639-8AE88AA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Сайт показывает цифровой прототип; телеметрия роботов в симуляции демонстрационная.</a:t>
            </a:r>
          </a:p>
        </p:txBody>
      </p:sp>
    </p:spTree>
    <p:extLst>
      <p:ext uri="{BB962C8B-B14F-4D97-AF65-F5344CB8AC3E}">
        <p14:creationId xmlns:p14="http://schemas.microsoft.com/office/powerpoint/2010/main" val="1697373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EC408-6FE8-4B4D-9E40-593C98CB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Цена робота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F3C1A-4EEE-48FA-8829-4566294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AEB70-F3CC-4754-A903-2FD0365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377CD-F7E8-4639-BFDB-C10F9F1B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БАЗОВАЯ ЦЕНА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04DF8-5A72-49CC-90A7-DFEA2BB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2,8 млн 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EC13D-9535-4823-832D-DF36ECB1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Робот EGIN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7A026-2CAD-43D2-BB6F-DC3DE3B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BC925-768C-4595-B3A7-2FC3FA43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+ 450 тыс. ₸   корзина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DEAB4-0BB3-453D-8C4E-BE6E0A44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+ 180 тыс. ₸   датчики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BE9DD-3721-4760-8CE8-7BFFF5D8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+ 120 тыс. ₸   обучение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E0DAE-35CF-4A86-A142-CA8A3BED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3,43 млн ₸  с корзиной и датчиками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1142F-ACDC-461D-979B-E86278211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b7942b4824ef2"/>
          <a:stretch xmlns:a="http://schemas.openxmlformats.org/drawingml/2006/main"/>
        </p:blipFill>
        <p:spPr>
          <a:xfrm xmlns:a="http://schemas.openxmlformats.org/drawingml/2006/main">
            <a:off x="6096000" y="2003351"/>
            <a:ext cx="5381625" cy="300369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116942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A6F0B-C2AF-4713-87F2-B90E84C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Экономика: сценарий, не гарантия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C1B2-BA5A-406C-A430-CA0E83D2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432C5-6D99-43C2-8E8C-9D0036D7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740B8-6367-45A8-AED1-0693E9A9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C55D4-C846-4A17-AD7C-49426587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686DF-1777-43D1-BE80-16AF5279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19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F6A8E-FB50-4699-93BB-3A3A2B5E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4524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1,3–2,6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4E9E4-C273-4B7F-8815-F642F7B2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простая окупаемость</a:t>
            </a:r>
          </a:p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при экономии 20 ч/нед*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3EBB2-1FA6-4BF4-B682-5689EBA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Круглогодично: ~1,3 года</a:t>
            </a:r>
          </a:p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Сезон 6 месяцев: ~2,6 года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AC013-5C19-47B9-BBAF-73A719E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19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ПРОДАВЕЦ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73B07-352C-4077-9E01-7E1FD087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≤ 1,96 млн 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0701E-A126-410B-B21D-E963686D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337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предельная себестоимость</a:t>
            </a:r>
          </a:p>
          <a:p xmlns:a="http://schemas.openxmlformats.org/drawingml/2006/main">
            <a: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для 30% валовой маржи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7046E-2A75-44CE-8205-91BC500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От базовой цены 2,8 млн ₸;</a:t>
            </a:r>
          </a:p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до сервиса и гарантий.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EA0B6-5F13-4B43-9F7C-3A618DCA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По отраслевой средней зарплате 365 262 ₸/мес, II кв. 2026; до расходов на обслуживание.</a:t>
            </a:r>
          </a:p>
        </p:txBody>
      </p:sp>
    </p:spTree>
    <p:extLst>
      <p:ext uri="{BB962C8B-B14F-4D97-AF65-F5344CB8AC3E}">
        <p14:creationId xmlns:p14="http://schemas.microsoft.com/office/powerpoint/2010/main" val="2202770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D3626-16C9-4FD3-9B57-A45C6CA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Срок службы проверим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1DD70-E8B3-412A-963F-033CEAD7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E6C3B-D35C-4F22-8AC1-D6AB589E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692AE-ABA3-4ADB-AECD-99122553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5 лет*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DF2B1-421A-42AE-AFD5-7DB66828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сценарий для расчёта,</a:t>
            </a:r>
          </a:p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не подтверждённый ресурс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B30C6-AEB1-4573-BDCA-8E0739EC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CB214-A83A-46EA-80D1-72776D1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ЧТО ИЗМЕРИМ В ПИЛОТЕ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25CC3-85CC-49D2-91D0-FB212B9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Наработка и простои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40983-AB82-4876-BE1B-044DC3D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Аккумулятор и ремонт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55FFC-D5E1-49F2-8F2A-030B7202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Время, вода,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07D64-132E-467A-A411-5742117A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F35B6-2FB5-41BB-B3AA-E60C5270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Следующий шаг —</a:t>
            </a:r>
          </a:p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пилотная теплица в Акмолинской области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15C7B-E07D-4073-A88E-4FF51DA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Расчётное допущение, не срок гарантии.</a:t>
            </a:r>
          </a:p>
        </p:txBody>
      </p:sp>
    </p:spTree>
    <p:extLst>
      <p:ext uri="{BB962C8B-B14F-4D97-AF65-F5344CB8AC3E}">
        <p14:creationId xmlns:p14="http://schemas.microsoft.com/office/powerpoint/2010/main" val="1954776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2026-10-27T03:11:19.5620000Z</dcterms:created>
  <dcterms:modified xsi:type="dcterms:W3CDTF">2026-10-27T03:11:19.5630000Z</dcterms:modified>
</coreProperties>
</file>